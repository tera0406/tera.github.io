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2" r:id="rId4"/>
    <p:sldId id="259" r:id="rId5"/>
    <p:sldId id="260" r:id="rId6"/>
    <p:sldId id="261" r:id="rId7"/>
  </p:sldIdLst>
  <p:sldSz cx="7556500" cy="10706100"/>
  <p:notesSz cx="10706100" cy="7556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8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78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youtu.be/BDO_n6OTzGI" TargetMode="External"/><Relationship Id="rId4" Type="http://schemas.openxmlformats.org/officeDocument/2006/relationships/image" Target="../media/image3.jp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HYy7l3UrIzA" TargetMode="Externa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836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eaLnBrk="1" latinLnBrk="0" hangingPunct="1">
              <a:buNone/>
            </a:pPr>
            <a:r>
              <a:rPr lang="zh-TW" altLang="en-US" sz="30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姜兆源</a:t>
            </a:r>
            <a:r>
              <a:rPr lang="zh-TW" altLang="en-US" sz="2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   Tera</a:t>
            </a:r>
            <a:endParaRPr lang="zh-TW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350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2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國立中山大學｜機械與機電工程學系</a:t>
            </a:r>
            <a:endParaRPr lang="zh-TW" alt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642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050" kern="0" spc="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機器人學習  ·  機構設計  ·  機電整合</a:t>
            </a:r>
            <a:endParaRPr lang="zh-TW" altLang="en-US" sz="1050" dirty="0"/>
          </a:p>
        </p:txBody>
      </p:sp>
      <p:pic>
        <p:nvPicPr>
          <p:cNvPr id="5" name="Image 0" descr="照片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362" y="548640"/>
            <a:ext cx="1371600" cy="14787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212848"/>
            <a:ext cx="6459322" cy="0"/>
          </a:xfrm>
          <a:prstGeom prst="line">
            <a:avLst/>
          </a:prstGeom>
          <a:noFill/>
          <a:ln w="15875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548640" y="2450592"/>
            <a:ext cx="2103120" cy="7477963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2651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150" b="1" kern="0" spc="15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EDUCATION</a:t>
            </a:r>
            <a:endParaRPr lang="zh-TW" alt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1520" y="2953512"/>
            <a:ext cx="1737360" cy="0"/>
          </a:xfrm>
          <a:prstGeom prst="line">
            <a:avLst/>
          </a:prstGeom>
          <a:noFill/>
          <a:ln w="9525">
            <a:solidFill>
              <a:srgbClr val="C9D1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 txBox="1"/>
          <p:nvPr/>
        </p:nvSpPr>
        <p:spPr>
          <a:xfrm>
            <a:off x="731520" y="3090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lnSpc>
                <a:spcPct val="120000"/>
              </a:lnSpc>
              <a:buNone/>
            </a:pPr>
            <a:r>
              <a:rPr lang="zh-TW" altLang="en-US" sz="11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國立中山大學</a:t>
            </a:r>
            <a:endParaRPr lang="zh-TW" altLang="en-US" sz="1150" dirty="0"/>
          </a:p>
          <a:p>
            <a:pPr marL="0" indent="0" eaLnBrk="1" latinLnBrk="0" hangingPunct="1">
              <a:lnSpc>
                <a:spcPct val="120000"/>
              </a:lnSpc>
              <a:buNone/>
            </a:pPr>
            <a:r>
              <a:rPr lang="zh-TW" altLang="en-US" sz="10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機械與機電工程學系</a:t>
            </a:r>
            <a:endParaRPr lang="zh-TW" alt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8679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150" b="1" kern="0" spc="15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LANGUAGES</a:t>
            </a:r>
            <a:endParaRPr lang="zh-TW" alt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31520" y="4169664"/>
            <a:ext cx="1737360" cy="0"/>
          </a:xfrm>
          <a:prstGeom prst="line">
            <a:avLst/>
          </a:prstGeom>
          <a:noFill/>
          <a:ln w="9525">
            <a:solidFill>
              <a:srgbClr val="C9D1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 txBox="1"/>
          <p:nvPr/>
        </p:nvSpPr>
        <p:spPr>
          <a:xfrm>
            <a:off x="731520" y="4306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1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IELTS  </a:t>
            </a:r>
            <a:r>
              <a:rPr lang="zh-TW" altLang="en-US" sz="11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7.0</a:t>
            </a:r>
            <a:endParaRPr lang="zh-TW" alt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544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9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2026 / 04</a:t>
            </a:r>
            <a:endParaRPr lang="zh-TW" alt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8188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1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TOEIC 多益  </a:t>
            </a:r>
            <a:r>
              <a:rPr lang="zh-TW" altLang="en-US" sz="11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820</a:t>
            </a:r>
            <a:endParaRPr lang="zh-TW" alt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0566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9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2023 / 04</a:t>
            </a:r>
            <a:endParaRPr lang="zh-TW" alt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5550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150" b="1" kern="0" spc="15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SKILLS</a:t>
            </a:r>
            <a:endParaRPr lang="zh-TW" alt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31520" y="5852160"/>
            <a:ext cx="1737360" cy="0"/>
          </a:xfrm>
          <a:prstGeom prst="line">
            <a:avLst/>
          </a:prstGeom>
          <a:noFill/>
          <a:ln w="9525">
            <a:solidFill>
              <a:srgbClr val="C9D1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 txBox="1"/>
          <p:nvPr/>
        </p:nvSpPr>
        <p:spPr>
          <a:xfrm>
            <a:off x="731520" y="59893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 eaLnBrk="1" latinLnBrk="0" hangingPunct="1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機構設計</a:t>
            </a:r>
            <a:endParaRPr lang="zh-TW" altLang="en-US" sz="1050" dirty="0"/>
          </a:p>
          <a:p>
            <a:pPr marL="139700" indent="-139700" eaLnBrk="1" latinLnBrk="0" hangingPunct="1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Fusion 360、SolidWorks</a:t>
            </a:r>
            <a:endParaRPr lang="zh-TW" altLang="en-US" sz="1050" dirty="0"/>
          </a:p>
          <a:p>
            <a:pPr marL="139700" indent="-139700" eaLnBrk="1" latinLnBrk="0" hangingPunct="1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機電整合、3D 列印</a:t>
            </a:r>
            <a:endParaRPr lang="zh-TW" altLang="en-US" sz="1050" dirty="0"/>
          </a:p>
          <a:p>
            <a:pPr marL="139700" indent="-139700" eaLnBrk="1" latinLnBrk="0" hangingPunct="1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ROS 2、PyTorch</a:t>
            </a:r>
            <a:endParaRPr lang="zh-TW" altLang="en-US" sz="1050" dirty="0"/>
          </a:p>
          <a:p>
            <a:pPr marL="139700" indent="-139700" eaLnBrk="1" latinLnBrk="0" hangingPunct="1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MuJoCo、Isaac Sim / Lab</a:t>
            </a:r>
            <a:endParaRPr lang="zh-TW" alt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7452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150" b="1" kern="0" spc="15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PERSONALITY</a:t>
            </a:r>
            <a:endParaRPr lang="zh-TW" alt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31520" y="7754112"/>
            <a:ext cx="1737360" cy="0"/>
          </a:xfrm>
          <a:prstGeom prst="line">
            <a:avLst/>
          </a:prstGeom>
          <a:noFill/>
          <a:ln w="9525">
            <a:solidFill>
              <a:srgbClr val="C9D1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9"/>
          <p:cNvSpPr txBox="1"/>
          <p:nvPr/>
        </p:nvSpPr>
        <p:spPr>
          <a:xfrm>
            <a:off x="731520" y="7891272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 eaLnBrk="1" latinLnBrk="0" hangingPunct="1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喜歡動手做東西</a:t>
            </a:r>
            <a:endParaRPr lang="zh-TW" altLang="en-US" sz="1050" dirty="0"/>
          </a:p>
          <a:p>
            <a:pPr marL="139700" indent="-139700" eaLnBrk="1" latinLnBrk="0" hangingPunct="1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遇到不熟的主題，會自己找論文和資料弄懂</a:t>
            </a:r>
            <a:endParaRPr lang="zh-TW" alt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89336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150" b="1" kern="0" spc="15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HONORS</a:t>
            </a:r>
            <a:endParaRPr lang="zh-TW" alt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31520" y="9235440"/>
            <a:ext cx="1737360" cy="0"/>
          </a:xfrm>
          <a:prstGeom prst="line">
            <a:avLst/>
          </a:prstGeom>
          <a:noFill/>
          <a:ln w="9525">
            <a:solidFill>
              <a:srgbClr val="C9D1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2"/>
          <p:cNvSpPr txBox="1"/>
          <p:nvPr/>
        </p:nvSpPr>
        <p:spPr>
          <a:xfrm>
            <a:off x="731520" y="9372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lnSpc>
                <a:spcPct val="115000"/>
              </a:lnSpc>
              <a:buNone/>
            </a:pPr>
            <a:r>
              <a:rPr lang="zh-TW" altLang="en-US" sz="11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創意技術獎 特優</a:t>
            </a:r>
            <a:endParaRPr lang="zh-TW" altLang="en-US" sz="1100" dirty="0"/>
          </a:p>
          <a:p>
            <a:pPr marL="0" indent="0" eaLnBrk="1" latinLnBrk="0" hangingPunct="1">
              <a:lnSpc>
                <a:spcPct val="115000"/>
              </a:lnSpc>
              <a:buNone/>
            </a:pPr>
            <a:r>
              <a:rPr lang="zh-TW" altLang="en-US" sz="9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2025 TEL Robot Combat</a:t>
            </a:r>
            <a:endParaRPr lang="zh-TW" alt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2999232" y="2651760"/>
            <a:ext cx="4008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150" b="1" kern="0" spc="15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EXPERIENCE</a:t>
            </a:r>
            <a:r>
              <a:rPr lang="zh-TW" alt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  研究實習</a:t>
            </a:r>
            <a:endParaRPr lang="zh-TW" alt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2999232" y="2953512"/>
            <a:ext cx="4008730" cy="0"/>
          </a:xfrm>
          <a:prstGeom prst="line">
            <a:avLst/>
          </a:prstGeom>
          <a:noFill/>
          <a:ln w="9525">
            <a:solidFill>
              <a:srgbClr val="C9D1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5"/>
          <p:cNvSpPr txBox="1"/>
          <p:nvPr/>
        </p:nvSpPr>
        <p:spPr>
          <a:xfrm>
            <a:off x="2999232" y="3090672"/>
            <a:ext cx="28200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1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City Science Lab @ Taipei Tech</a:t>
            </a:r>
            <a:endParaRPr lang="zh-TW" alt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5819242" y="31089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eaLnBrk="1" latinLnBrk="0" hangingPunct="1">
              <a:buNone/>
            </a:pPr>
            <a:r>
              <a:rPr lang="zh-TW" altLang="en-US" sz="9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2026.07 – 08</a:t>
            </a:r>
            <a:endParaRPr lang="zh-TW" alt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2999232" y="3364992"/>
            <a:ext cx="4008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0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UROP 研究實習生</a:t>
            </a:r>
            <a:endParaRPr lang="zh-TW" altLang="en-US" sz="1000" dirty="0"/>
          </a:p>
        </p:txBody>
      </p:sp>
      <p:sp>
        <p:nvSpPr>
          <p:cNvPr id="31" name="P1_City S"/>
          <p:cNvSpPr txBox="1"/>
          <p:nvPr/>
        </p:nvSpPr>
        <p:spPr>
          <a:xfrm>
            <a:off x="2999232" y="3639312"/>
            <a:ext cx="4008730" cy="846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 eaLnBrk="1" latinLnBrk="0" hangingPunct="1">
              <a:lnSpc>
                <a:spcPct val="125000"/>
              </a:lnSpc>
              <a:spcAft>
                <a:spcPts val="200"/>
              </a:spcAft>
              <a:buSzPct val="100000"/>
              <a:buChar char="•"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在 OpenArm 雙臂上用模仿學習做雙手交接任務，串接 VR 於</a:t>
            </a:r>
            <a:r>
              <a:rPr lang="en-US" altLang="zh-TW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Isaac Sim</a:t>
            </a: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遙操作錄示範，再用資料擴增補足訓練資料</a:t>
            </a:r>
            <a:endParaRPr lang="zh-TW" altLang="en-US" sz="1050" dirty="0"/>
          </a:p>
          <a:p>
            <a:pPr marL="139700" indent="-139700" eaLnBrk="1" latinLnBrk="0" hangingPunct="1">
              <a:lnSpc>
                <a:spcPct val="125000"/>
              </a:lnSpc>
              <a:spcAft>
                <a:spcPts val="200"/>
              </a:spcAft>
              <a:buSzPct val="100000"/>
              <a:buChar char="•"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設計給 UMI 使用的夾爪，3D 列印反覆修改後，裝至雙足機器人的手臂末端</a:t>
            </a:r>
            <a:endParaRPr lang="zh-TW" alt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2999232" y="4678070"/>
            <a:ext cx="4008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150" b="1" kern="0" spc="15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PROJECTS</a:t>
            </a:r>
            <a:r>
              <a:rPr lang="zh-TW" alt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  專案經歷</a:t>
            </a:r>
            <a:endParaRPr lang="zh-TW" alt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2999232" y="4979822"/>
            <a:ext cx="4008730" cy="0"/>
          </a:xfrm>
          <a:prstGeom prst="line">
            <a:avLst/>
          </a:prstGeom>
          <a:noFill/>
          <a:ln w="9525">
            <a:solidFill>
              <a:srgbClr val="C9D1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1"/>
          <p:cNvSpPr txBox="1"/>
          <p:nvPr/>
        </p:nvSpPr>
        <p:spPr>
          <a:xfrm>
            <a:off x="2999232" y="5116982"/>
            <a:ext cx="28200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1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TEL Robot Combat 射球機器人</a:t>
            </a:r>
            <a:endParaRPr lang="zh-TW" alt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5819242" y="513527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eaLnBrk="1" latinLnBrk="0" hangingPunct="1">
              <a:buNone/>
            </a:pPr>
            <a:r>
              <a:rPr lang="zh-TW" altLang="en-US" sz="9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2025</a:t>
            </a:r>
            <a:r>
              <a:rPr lang="en-US" altLang="zh-TW" sz="9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.07-12</a:t>
            </a:r>
            <a:endParaRPr lang="zh-TW" alt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2999232" y="5391302"/>
            <a:ext cx="4008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0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機構與電路設計</a:t>
            </a:r>
            <a:endParaRPr lang="zh-TW" altLang="en-US" sz="1000" dirty="0"/>
          </a:p>
        </p:txBody>
      </p:sp>
      <p:sp>
        <p:nvSpPr>
          <p:cNvPr id="37" name="P1_TEL Ro"/>
          <p:cNvSpPr txBox="1"/>
          <p:nvPr/>
        </p:nvSpPr>
        <p:spPr>
          <a:xfrm>
            <a:off x="2999232" y="5665622"/>
            <a:ext cx="4008730" cy="446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 eaLnBrk="1" latinLnBrk="0" hangingPunct="1">
              <a:lnSpc>
                <a:spcPct val="125000"/>
              </a:lnSpc>
              <a:spcAft>
                <a:spcPts val="200"/>
              </a:spcAft>
              <a:buSzPct val="100000"/>
              <a:buChar char="•"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主導整台機器人的機構與電路設計，從畫圖、做零件到組裝完成</a:t>
            </a:r>
            <a:endParaRPr lang="zh-TW" altLang="en-US" sz="1050" dirty="0"/>
          </a:p>
          <a:p>
            <a:pPr marL="139700" indent="-139700" eaLnBrk="1" latinLnBrk="0" hangingPunct="1">
              <a:lnSpc>
                <a:spcPct val="125000"/>
              </a:lnSpc>
              <a:spcAft>
                <a:spcPts val="200"/>
              </a:spcAft>
              <a:buSzPct val="100000"/>
              <a:buChar char="•"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獲創意技術獎特優</a:t>
            </a:r>
            <a:endParaRPr lang="zh-TW" alt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2999232" y="6267298"/>
            <a:ext cx="28200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1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機器導航課程實作</a:t>
            </a:r>
            <a:endParaRPr lang="zh-TW" alt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5819242" y="628558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eaLnBrk="1" latinLnBrk="0" hangingPunct="1">
              <a:buNone/>
            </a:pPr>
            <a:r>
              <a:rPr lang="zh-TW" altLang="en-US" sz="9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清大</a:t>
            </a:r>
            <a:r>
              <a:rPr lang="en-US" altLang="zh-TW" sz="9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AI</a:t>
            </a:r>
            <a:r>
              <a:rPr lang="zh-TW" altLang="en-US" sz="9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 聯盟課程</a:t>
            </a:r>
            <a:endParaRPr lang="zh-TW" altLang="en-US" sz="950" dirty="0"/>
          </a:p>
        </p:txBody>
      </p:sp>
      <p:sp>
        <p:nvSpPr>
          <p:cNvPr id="40" name="P1_機器導航課程"/>
          <p:cNvSpPr txBox="1"/>
          <p:nvPr/>
        </p:nvSpPr>
        <p:spPr>
          <a:xfrm>
            <a:off x="2999232" y="6569050"/>
            <a:ext cx="400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 eaLnBrk="1" latinLnBrk="0" hangingPunct="1">
              <a:lnSpc>
                <a:spcPct val="125000"/>
              </a:lnSpc>
              <a:spcAft>
                <a:spcPts val="200"/>
              </a:spcAft>
              <a:buSzPct val="100000"/>
              <a:buChar char="•"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實作 A*、RRT* 路徑規劃和 Stanley、LQR 軌跡追蹤，也實做 ROS 2 節點通訊和強化學習的練習</a:t>
            </a:r>
            <a:endParaRPr lang="zh-TW" alt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2999232" y="7145122"/>
            <a:ext cx="28200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15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多模態智慧垃圾桶</a:t>
            </a:r>
            <a:endParaRPr lang="zh-TW" altLang="en-US" sz="1150" dirty="0"/>
          </a:p>
        </p:txBody>
      </p:sp>
      <p:sp>
        <p:nvSpPr>
          <p:cNvPr id="42" name="Text 39"/>
          <p:cNvSpPr txBox="1"/>
          <p:nvPr/>
        </p:nvSpPr>
        <p:spPr>
          <a:xfrm>
            <a:off x="5819242" y="716341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eaLnBrk="1" latinLnBrk="0" hangingPunct="1">
              <a:buNone/>
            </a:pPr>
            <a:r>
              <a:rPr lang="zh-TW" altLang="en-US" sz="9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大專生研究計畫</a:t>
            </a:r>
            <a:endParaRPr lang="zh-TW" alt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2999232" y="7419442"/>
            <a:ext cx="4008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0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專題組長</a:t>
            </a:r>
            <a:endParaRPr lang="zh-TW" altLang="en-US" sz="1000" dirty="0"/>
          </a:p>
        </p:txBody>
      </p:sp>
      <p:sp>
        <p:nvSpPr>
          <p:cNvPr id="44" name="P1_多模態智慧垃"/>
          <p:cNvSpPr txBox="1"/>
          <p:nvPr/>
        </p:nvSpPr>
        <p:spPr>
          <a:xfrm>
            <a:off x="2999232" y="7693762"/>
            <a:ext cx="4008730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 eaLnBrk="1" latinLnBrk="0" hangingPunct="1">
              <a:lnSpc>
                <a:spcPct val="125000"/>
              </a:lnSpc>
              <a:spcAft>
                <a:spcPts val="200"/>
              </a:spcAft>
              <a:buSzPct val="100000"/>
              <a:buChar char="•"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負責系統架構、裝置之間的通訊和機電整合</a:t>
            </a:r>
            <a:endParaRPr lang="zh-TW" alt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2999232" y="8107070"/>
            <a:ext cx="4008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150" b="1" kern="0" spc="15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EXPECT TO LEARN</a:t>
            </a:r>
            <a:r>
              <a:rPr lang="zh-TW" alt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  期望學習</a:t>
            </a:r>
            <a:endParaRPr lang="zh-TW" alt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2999232" y="8408822"/>
            <a:ext cx="4008730" cy="0"/>
          </a:xfrm>
          <a:prstGeom prst="line">
            <a:avLst/>
          </a:prstGeom>
          <a:noFill/>
          <a:ln w="9525">
            <a:solidFill>
              <a:srgbClr val="C9D1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P1_expect"/>
          <p:cNvSpPr txBox="1"/>
          <p:nvPr/>
        </p:nvSpPr>
        <p:spPr>
          <a:xfrm>
            <a:off x="2999232" y="8545982"/>
            <a:ext cx="4008730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lnSpc>
                <a:spcPct val="122000"/>
              </a:lnSpc>
              <a:buNone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Through this UROP program, I hope to understand the practical problems that come up in robotics. My previous projects gave me some experience with CAD design, control algorithms, and basic deep learning, but I want to learn how to improve these systems in a more systematic way. I also look forward to working with other students on real-world problems.</a:t>
            </a:r>
            <a:endParaRPr lang="zh-TW" alt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6093562" y="10248595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eaLnBrk="1" latinLnBrk="0" hangingPunct="1">
              <a:buNone/>
            </a:pPr>
            <a:r>
              <a:rPr lang="zh-TW" altLang="en-US" sz="9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1 / 6</a:t>
            </a:r>
            <a:endParaRPr lang="zh-TW" alt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9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姜兆源</a:t>
            </a:r>
            <a:r>
              <a:rPr lang="zh-TW" altLang="en-US" sz="9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  Tera  ·  Curriculum Vitae</a:t>
            </a:r>
            <a:endParaRPr lang="zh-TW" alt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264762" y="3474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eaLnBrk="1" latinLnBrk="0" hangingPunct="1">
              <a:buNone/>
            </a:pPr>
            <a:r>
              <a:rPr lang="zh-TW" altLang="en-US" sz="900" kern="0" spc="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EXPERIENCE</a:t>
            </a:r>
            <a:endParaRPr lang="zh-TW" alt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6459322" cy="0"/>
          </a:xfrm>
          <a:prstGeom prst="line">
            <a:avLst/>
          </a:prstGeom>
          <a:noFill/>
          <a:ln w="9525">
            <a:solidFill>
              <a:srgbClr val="C9D1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6093562" y="10248595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eaLnBrk="1" latinLnBrk="0" hangingPunct="1">
              <a:buNone/>
            </a:pPr>
            <a:r>
              <a:rPr lang="zh-TW" altLang="en-US" sz="9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2 / 6</a:t>
            </a:r>
            <a:endParaRPr lang="zh-TW" alt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6459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000" b="1" kern="0" spc="2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EXPERIENCE  ·  INTERNSHIP</a:t>
            </a:r>
            <a:endParaRPr lang="zh-TW" alt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33856"/>
            <a:ext cx="64593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20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UROP – City Science Lab @ Taipei Tech</a:t>
            </a:r>
            <a:endParaRPr lang="zh-TW" alt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9344"/>
            <a:ext cx="64593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0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研究實習生（Undergraduate Research Opportunity Program）  ·  2026 年 7–8 月</a:t>
            </a:r>
            <a:endParaRPr lang="zh-TW" alt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956816"/>
            <a:ext cx="610362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1956816"/>
            <a:ext cx="61036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MuJoCo</a:t>
            </a:r>
            <a:endParaRPr lang="zh-TW" alt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32154" y="1956816"/>
            <a:ext cx="763524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1232154" y="1956816"/>
            <a:ext cx="7635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System ID</a:t>
            </a:r>
            <a:endParaRPr lang="zh-TW" alt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68830" y="1956816"/>
            <a:ext cx="752094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2068830" y="1956816"/>
            <a:ext cx="75209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Isaac Sim</a:t>
            </a:r>
            <a:endParaRPr lang="zh-TW" alt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94076" y="1956816"/>
            <a:ext cx="1094994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2894076" y="1956816"/>
            <a:ext cx="109499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Isaac Lab Mimic</a:t>
            </a:r>
            <a:endParaRPr lang="zh-TW" alt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62222" y="1956816"/>
            <a:ext cx="658368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4062222" y="1956816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LeRobot</a:t>
            </a:r>
            <a:endParaRPr lang="zh-TW" alt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93742" y="1956816"/>
            <a:ext cx="681228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 txBox="1"/>
          <p:nvPr/>
        </p:nvSpPr>
        <p:spPr>
          <a:xfrm>
            <a:off x="4793742" y="1956816"/>
            <a:ext cx="6812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SmolVLA</a:t>
            </a:r>
            <a:endParaRPr lang="zh-TW" alt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48122" y="1956816"/>
            <a:ext cx="738378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 txBox="1"/>
          <p:nvPr/>
        </p:nvSpPr>
        <p:spPr>
          <a:xfrm>
            <a:off x="5548122" y="1956816"/>
            <a:ext cx="7383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VR 遙操作</a:t>
            </a:r>
            <a:endParaRPr lang="zh-TW" altLang="en-US" sz="900" dirty="0"/>
          </a:p>
        </p:txBody>
      </p:sp>
      <p:sp>
        <p:nvSpPr>
          <p:cNvPr id="25" name="P2_a"/>
          <p:cNvSpPr txBox="1"/>
          <p:nvPr/>
        </p:nvSpPr>
        <p:spPr>
          <a:xfrm>
            <a:off x="548640" y="2359152"/>
            <a:ext cx="6455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在 CSL 的兩個月，一開始在 MuJoCo 裡學機械手臂的基礎：工作空間、動力學和阻抗力矩補償，接著在實體手臂上做 system ID，然後投入下面兩個專案。</a:t>
            </a:r>
            <a:endParaRPr lang="zh-TW" altLang="en-US" sz="1050" dirty="0"/>
          </a:p>
        </p:txBody>
      </p:sp>
      <p:sp>
        <p:nvSpPr>
          <p:cNvPr id="53" name="S1 badge"/>
          <p:cNvSpPr/>
          <p:nvPr/>
        </p:nvSpPr>
        <p:spPr>
          <a:xfrm>
            <a:off x="548640" y="2999232"/>
            <a:ext cx="365760" cy="256032"/>
          </a:xfrm>
          <a:prstGeom prst="roundRect">
            <a:avLst>
              <a:gd name="adj" fmla="val 11667"/>
            </a:avLst>
          </a:prstGeom>
          <a:solidFill>
            <a:srgbClr val="1F3A5F"/>
          </a:solidFill>
          <a:ln w="9525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S1 badge text"/>
          <p:cNvSpPr txBox="1"/>
          <p:nvPr/>
        </p:nvSpPr>
        <p:spPr>
          <a:xfrm>
            <a:off x="548640" y="29992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lnSpc>
                <a:spcPct val="100000"/>
              </a:lnSpc>
              <a:buNone/>
            </a:pPr>
            <a:r>
              <a:rPr lang="zh-TW" alt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01</a:t>
            </a:r>
            <a:endParaRPr lang="zh-TW" altLang="en-US" sz="950" dirty="0"/>
          </a:p>
        </p:txBody>
      </p:sp>
      <p:sp>
        <p:nvSpPr>
          <p:cNvPr id="55" name="S1 title"/>
          <p:cNvSpPr txBox="1"/>
          <p:nvPr/>
        </p:nvSpPr>
        <p:spPr>
          <a:xfrm>
            <a:off x="1024128" y="2999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 latinLnBrk="0" hangingPunct="1">
              <a:lnSpc>
                <a:spcPct val="100000"/>
              </a:lnSpc>
              <a:buNone/>
            </a:pPr>
            <a:r>
              <a:rPr lang="zh-TW" altLang="en-US" sz="12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OpenArm 雙臂模仿學習</a:t>
            </a:r>
            <a:endParaRPr lang="zh-TW" altLang="en-US" sz="1250" dirty="0"/>
          </a:p>
        </p:txBody>
      </p:sp>
      <p:sp>
        <p:nvSpPr>
          <p:cNvPr id="56" name="S1 note"/>
          <p:cNvSpPr txBox="1"/>
          <p:nvPr/>
        </p:nvSpPr>
        <p:spPr>
          <a:xfrm>
            <a:off x="4261104" y="2999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1" latinLnBrk="0" hangingPunct="1">
              <a:lnSpc>
                <a:spcPct val="100000"/>
              </a:lnSpc>
              <a:buNone/>
            </a:pPr>
            <a:r>
              <a:rPr lang="zh-TW" altLang="en-US" sz="900" b="1" u="sng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  <a:hlinkClick r:id="rId6"/>
              </a:rPr>
              <a:t>▶ Demo 影片：youtu.be/BDO_n6OTzGI</a:t>
            </a:r>
            <a:endParaRPr lang="zh-TW" altLang="en-US" sz="900" dirty="0"/>
          </a:p>
        </p:txBody>
      </p:sp>
      <p:sp>
        <p:nvSpPr>
          <p:cNvPr id="40" name="P2_b"/>
          <p:cNvSpPr txBox="1"/>
          <p:nvPr/>
        </p:nvSpPr>
        <p:spPr>
          <a:xfrm>
            <a:off x="548640" y="3364992"/>
            <a:ext cx="6455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做法：</a:t>
            </a: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考量時間和成本，我選擇用資料擴增來完成雙手交接任務：在 Isaac Sim 裡用 VR 遙操作錄約 20 筆人類示範，擴增成上千筆訓練資料後微調 SmolVLA，完整流程如下。</a:t>
            </a:r>
            <a:endParaRPr lang="zh-TW" altLang="en-US" sz="1050" dirty="0"/>
          </a:p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除錯：</a:t>
            </a: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一開始擴增出來的資料一直不對，後來參考 Isaac Lab Mimic 官方的雙手交接範例，重新設定子任務的標註斷點，也修好了模擬中手指碰撞失效的狀況。</a:t>
            </a:r>
            <a:endParaRPr lang="zh-TW" altLang="en-US" sz="1050" dirty="0"/>
          </a:p>
        </p:txBody>
      </p:sp>
      <p:grpSp>
        <p:nvGrpSpPr>
          <p:cNvPr id="88" name="Pipeline"/>
          <p:cNvGrpSpPr/>
          <p:nvPr/>
        </p:nvGrpSpPr>
        <p:grpSpPr>
          <a:xfrm>
            <a:off x="548640" y="4443984"/>
            <a:ext cx="6455664" cy="3096091"/>
            <a:chOff x="548640" y="4443984"/>
            <a:chExt cx="6455664" cy="3096091"/>
          </a:xfrm>
        </p:grpSpPr>
        <p:sp>
          <p:nvSpPr>
            <p:cNvPr id="65" name="Step 1 card"/>
            <p:cNvSpPr/>
            <p:nvPr/>
          </p:nvSpPr>
          <p:spPr>
            <a:xfrm>
              <a:off x="548640" y="4443984"/>
              <a:ext cx="2005584" cy="1429173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C9D1DC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6" name="Step 1 title"/>
            <p:cNvSpPr txBox="1"/>
            <p:nvPr/>
          </p:nvSpPr>
          <p:spPr>
            <a:xfrm>
              <a:off x="640080" y="4471416"/>
              <a:ext cx="186842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eaLnBrk="1" latinLnBrk="0" hangingPunct="1">
                <a:lnSpc>
                  <a:spcPct val="100000"/>
                </a:lnSpc>
                <a:buNone/>
              </a:pPr>
              <a:r>
                <a:rPr lang="zh-TW" altLang="en-US" sz="950" b="1" dirty="0">
                  <a:solidFill>
                    <a:srgbClr val="1F3A5F"/>
                  </a:solidFill>
                  <a:latin typeface="Microsoft JhengHei" pitchFamily="34" charset="0"/>
                  <a:ea typeface="Microsoft JhengHei" pitchFamily="34" charset="-120"/>
                  <a:cs typeface="Microsoft JhengHei" pitchFamily="34" charset="-120"/>
                </a:rPr>
                <a:t>任務設置</a:t>
              </a:r>
              <a:r>
                <a:rPr lang="zh-TW" altLang="en-US" sz="800" dirty="0">
                  <a:solidFill>
                    <a:srgbClr val="5F6B7A"/>
                  </a:solidFill>
                  <a:latin typeface="Microsoft JhengHei" pitchFamily="34" charset="0"/>
                  <a:ea typeface="Microsoft JhengHei" pitchFamily="34" charset="-120"/>
                  <a:cs typeface="Microsoft JhengHei" pitchFamily="34" charset="-120"/>
                </a:rPr>
                <a:t>   Real World</a:t>
              </a:r>
              <a:endParaRPr lang="zh-TW" altLang="en-US" sz="950" dirty="0"/>
            </a:p>
          </p:txBody>
        </p:sp>
        <p:pic>
          <p:nvPicPr>
            <p:cNvPr id="67" name="Step 1 image" descr="任務設置 (Real World)"/>
            <p:cNvPicPr>
              <a:picLocks noChangeAspect="1"/>
            </p:cNvPicPr>
            <p:nvPr/>
          </p:nvPicPr>
          <p:blipFill>
            <a:blip r:embed="rId7"/>
            <a:srcRect l="0" t="2122" r="0" b="2122"/>
            <a:stretch>
              <a:fillRect/>
            </a:stretch>
          </p:blipFill>
          <p:spPr>
            <a:xfrm>
              <a:off x="594360" y="4764024"/>
              <a:ext cx="1914144" cy="1063413"/>
            </a:xfrm>
            <a:prstGeom prst="rect">
              <a:avLst/>
            </a:prstGeom>
            <a:ln w="6350">
              <a:solidFill>
                <a:srgbClr val="DDE3EA"/>
              </a:solidFill>
            </a:ln>
          </p:spPr>
        </p:pic>
        <p:sp>
          <p:nvSpPr>
            <p:cNvPr id="68" name="Step 2 card"/>
            <p:cNvSpPr/>
            <p:nvPr/>
          </p:nvSpPr>
          <p:spPr>
            <a:xfrm>
              <a:off x="2773680" y="4443984"/>
              <a:ext cx="2005584" cy="1429173"/>
            </a:xfrm>
            <a:prstGeom prst="roundRect">
              <a:avLst>
                <a:gd name="adj" fmla="val 6000"/>
              </a:avLst>
            </a:prstGeom>
            <a:solidFill>
              <a:srgbClr val="EAF6EC"/>
            </a:solidFill>
            <a:ln w="9525">
              <a:solidFill>
                <a:srgbClr val="BCDCC4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9" name="Step 2 title"/>
            <p:cNvSpPr txBox="1"/>
            <p:nvPr/>
          </p:nvSpPr>
          <p:spPr>
            <a:xfrm>
              <a:off x="2865120" y="4471416"/>
              <a:ext cx="186842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eaLnBrk="1" latinLnBrk="0" hangingPunct="1">
                <a:lnSpc>
                  <a:spcPct val="100000"/>
                </a:lnSpc>
                <a:buNone/>
              </a:pPr>
              <a:r>
                <a:rPr lang="zh-TW" altLang="en-US" sz="950" b="1" dirty="0">
                  <a:solidFill>
                    <a:srgbClr val="1F3A5F"/>
                  </a:solidFill>
                  <a:latin typeface="Microsoft JhengHei" pitchFamily="34" charset="0"/>
                  <a:ea typeface="Microsoft JhengHei" pitchFamily="34" charset="-120"/>
                  <a:cs typeface="Microsoft JhengHei" pitchFamily="34" charset="-120"/>
                </a:rPr>
                <a:t>VR 遙操作</a:t>
              </a:r>
              <a:r>
                <a:rPr lang="zh-TW" altLang="en-US" sz="800" dirty="0">
                  <a:solidFill>
                    <a:srgbClr val="5F6B7A"/>
                  </a:solidFill>
                  <a:latin typeface="Microsoft JhengHei" pitchFamily="34" charset="0"/>
                  <a:ea typeface="Microsoft JhengHei" pitchFamily="34" charset="-120"/>
                  <a:cs typeface="Microsoft JhengHei" pitchFamily="34" charset="-120"/>
                </a:rPr>
                <a:t>   Isaac Sim</a:t>
              </a:r>
              <a:endParaRPr lang="zh-TW" altLang="en-US" sz="950" dirty="0"/>
            </a:p>
          </p:txBody>
        </p:sp>
        <p:pic>
          <p:nvPicPr>
            <p:cNvPr id="70" name="Step 2 image" descr="VR 遙操作 (Isaac Sim)"/>
            <p:cNvPicPr>
              <a:picLocks noChangeAspect="1"/>
            </p:cNvPicPr>
            <p:nvPr/>
          </p:nvPicPr>
          <p:blipFill>
            <a:blip r:embed="rId8"/>
            <a:srcRect l="1131" t="0" r="1131" b="0"/>
            <a:stretch>
              <a:fillRect/>
            </a:stretch>
          </p:blipFill>
          <p:spPr>
            <a:xfrm>
              <a:off x="2819400" y="4764024"/>
              <a:ext cx="1914144" cy="1063413"/>
            </a:xfrm>
            <a:prstGeom prst="rect">
              <a:avLst/>
            </a:prstGeom>
            <a:ln w="6350">
              <a:solidFill>
                <a:srgbClr val="DDE3EA"/>
              </a:solidFill>
            </a:ln>
          </p:spPr>
        </p:pic>
        <p:sp>
          <p:nvSpPr>
            <p:cNvPr id="71" name="Step 3 card"/>
            <p:cNvSpPr/>
            <p:nvPr/>
          </p:nvSpPr>
          <p:spPr>
            <a:xfrm>
              <a:off x="4998720" y="4443984"/>
              <a:ext cx="2005584" cy="1429173"/>
            </a:xfrm>
            <a:prstGeom prst="roundRect">
              <a:avLst>
                <a:gd name="adj" fmla="val 6000"/>
              </a:avLst>
            </a:prstGeom>
            <a:solidFill>
              <a:srgbClr val="EAF6EC"/>
            </a:solidFill>
            <a:ln w="9525">
              <a:solidFill>
                <a:srgbClr val="BCDCC4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2" name="Step 3 title"/>
            <p:cNvSpPr txBox="1"/>
            <p:nvPr/>
          </p:nvSpPr>
          <p:spPr>
            <a:xfrm>
              <a:off x="5090160" y="4471416"/>
              <a:ext cx="186842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eaLnBrk="1" latinLnBrk="0" hangingPunct="1">
                <a:lnSpc>
                  <a:spcPct val="100000"/>
                </a:lnSpc>
                <a:buNone/>
              </a:pPr>
              <a:r>
                <a:rPr lang="zh-TW" altLang="en-US" sz="950" b="1" dirty="0">
                  <a:solidFill>
                    <a:srgbClr val="1F3A5F"/>
                  </a:solidFill>
                  <a:latin typeface="Microsoft JhengHei" pitchFamily="34" charset="0"/>
                  <a:ea typeface="Microsoft JhengHei" pitchFamily="34" charset="-120"/>
                  <a:cs typeface="Microsoft JhengHei" pitchFamily="34" charset="-120"/>
                </a:rPr>
                <a:t>資料擴增</a:t>
              </a:r>
              <a:r>
                <a:rPr lang="zh-TW" altLang="en-US" sz="800" dirty="0">
                  <a:solidFill>
                    <a:srgbClr val="5F6B7A"/>
                  </a:solidFill>
                  <a:latin typeface="Microsoft JhengHei" pitchFamily="34" charset="0"/>
                  <a:ea typeface="Microsoft JhengHei" pitchFamily="34" charset="-120"/>
                  <a:cs typeface="Microsoft JhengHei" pitchFamily="34" charset="-120"/>
                </a:rPr>
                <a:t>   Isaac Lab Mimic</a:t>
              </a:r>
              <a:endParaRPr lang="zh-TW" altLang="en-US" sz="950" dirty="0"/>
            </a:p>
          </p:txBody>
        </p:sp>
        <p:pic>
          <p:nvPicPr>
            <p:cNvPr id="73" name="Step 3 image" descr="資料擴增 (Isaac Lab Mimic)"/>
            <p:cNvPicPr>
              <a:picLocks noChangeAspect="1"/>
            </p:cNvPicPr>
            <p:nvPr/>
          </p:nvPicPr>
          <p:blipFill>
            <a:blip r:embed="rId9"/>
            <a:srcRect l="230" t="0" r="230" b="0"/>
            <a:stretch>
              <a:fillRect/>
            </a:stretch>
          </p:blipFill>
          <p:spPr>
            <a:xfrm>
              <a:off x="5044440" y="4764024"/>
              <a:ext cx="1914144" cy="1063413"/>
            </a:xfrm>
            <a:prstGeom prst="rect">
              <a:avLst/>
            </a:prstGeom>
            <a:ln w="6350">
              <a:solidFill>
                <a:srgbClr val="DDE3EA"/>
              </a:solidFill>
            </a:ln>
          </p:spPr>
        </p:pic>
        <p:sp>
          <p:nvSpPr>
            <p:cNvPr id="74" name="Step 4 card"/>
            <p:cNvSpPr/>
            <p:nvPr/>
          </p:nvSpPr>
          <p:spPr>
            <a:xfrm>
              <a:off x="548640" y="6110901"/>
              <a:ext cx="2005584" cy="1429173"/>
            </a:xfrm>
            <a:prstGeom prst="roundRect">
              <a:avLst>
                <a:gd name="adj" fmla="val 6000"/>
              </a:avLst>
            </a:prstGeom>
            <a:solidFill>
              <a:srgbClr val="FFF7E1"/>
            </a:solidFill>
            <a:ln w="9525">
              <a:solidFill>
                <a:srgbClr val="E8D6A2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5" name="Step 4 title"/>
            <p:cNvSpPr txBox="1"/>
            <p:nvPr/>
          </p:nvSpPr>
          <p:spPr>
            <a:xfrm>
              <a:off x="640080" y="6138333"/>
              <a:ext cx="186842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eaLnBrk="1" latinLnBrk="0" hangingPunct="1">
                <a:lnSpc>
                  <a:spcPct val="100000"/>
                </a:lnSpc>
                <a:buNone/>
              </a:pPr>
              <a:r>
                <a:rPr lang="zh-TW" altLang="en-US" sz="950" b="1" dirty="0">
                  <a:solidFill>
                    <a:srgbClr val="1F3A5F"/>
                  </a:solidFill>
                  <a:latin typeface="Microsoft JhengHei" pitchFamily="34" charset="0"/>
                  <a:ea typeface="Microsoft JhengHei" pitchFamily="34" charset="-120"/>
                  <a:cs typeface="Microsoft JhengHei" pitchFamily="34" charset="-120"/>
                </a:rPr>
                <a:t>模型訓練</a:t>
              </a:r>
              <a:r>
                <a:rPr lang="zh-TW" altLang="en-US" sz="800" dirty="0">
                  <a:solidFill>
                    <a:srgbClr val="5F6B7A"/>
                  </a:solidFill>
                  <a:latin typeface="Microsoft JhengHei" pitchFamily="34" charset="0"/>
                  <a:ea typeface="Microsoft JhengHei" pitchFamily="34" charset="-120"/>
                  <a:cs typeface="Microsoft JhengHei" pitchFamily="34" charset="-120"/>
                </a:rPr>
                <a:t>   LeRobot · SmolVLA</a:t>
              </a:r>
              <a:endParaRPr lang="zh-TW" altLang="en-US" sz="950" dirty="0"/>
            </a:p>
          </p:txBody>
        </p:sp>
        <p:pic>
          <p:nvPicPr>
            <p:cNvPr id="76" name="Step 4 image" descr="模型訓練 (LeRobot · SmolVLA)"/>
            <p:cNvPicPr>
              <a:picLocks noChangeAspect="1"/>
            </p:cNvPicPr>
            <p:nvPr/>
          </p:nvPicPr>
          <p:blipFill>
            <a:blip r:embed="rId10"/>
            <a:srcRect l="131" t="0" r="131" b="0"/>
            <a:stretch>
              <a:fillRect/>
            </a:stretch>
          </p:blipFill>
          <p:spPr>
            <a:xfrm>
              <a:off x="594360" y="6430941"/>
              <a:ext cx="1914144" cy="1063413"/>
            </a:xfrm>
            <a:prstGeom prst="rect">
              <a:avLst/>
            </a:prstGeom>
            <a:ln w="6350">
              <a:solidFill>
                <a:srgbClr val="DDE3EA"/>
              </a:solidFill>
            </a:ln>
          </p:spPr>
        </p:pic>
        <p:sp>
          <p:nvSpPr>
            <p:cNvPr id="77" name="Step 5 card"/>
            <p:cNvSpPr/>
            <p:nvPr/>
          </p:nvSpPr>
          <p:spPr>
            <a:xfrm>
              <a:off x="2773680" y="6110901"/>
              <a:ext cx="2005584" cy="1429173"/>
            </a:xfrm>
            <a:prstGeom prst="roundRect">
              <a:avLst>
                <a:gd name="adj" fmla="val 6000"/>
              </a:avLst>
            </a:prstGeom>
            <a:solidFill>
              <a:srgbClr val="EAF6EC"/>
            </a:solidFill>
            <a:ln w="9525">
              <a:solidFill>
                <a:srgbClr val="BCDCC4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8" name="Step 5 title"/>
            <p:cNvSpPr txBox="1"/>
            <p:nvPr/>
          </p:nvSpPr>
          <p:spPr>
            <a:xfrm>
              <a:off x="2865120" y="6138333"/>
              <a:ext cx="186842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eaLnBrk="1" latinLnBrk="0" hangingPunct="1">
                <a:lnSpc>
                  <a:spcPct val="100000"/>
                </a:lnSpc>
                <a:buNone/>
              </a:pPr>
              <a:r>
                <a:rPr lang="zh-TW" altLang="en-US" sz="950" b="1" dirty="0">
                  <a:solidFill>
                    <a:srgbClr val="1F3A5F"/>
                  </a:solidFill>
                  <a:latin typeface="Microsoft JhengHei" pitchFamily="34" charset="0"/>
                  <a:ea typeface="Microsoft JhengHei" pitchFamily="34" charset="-120"/>
                  <a:cs typeface="Microsoft JhengHei" pitchFamily="34" charset="-120"/>
                </a:rPr>
                <a:t>模擬評估</a:t>
              </a:r>
              <a:r>
                <a:rPr lang="zh-TW" altLang="en-US" sz="800" dirty="0">
                  <a:solidFill>
                    <a:srgbClr val="5F6B7A"/>
                  </a:solidFill>
                  <a:latin typeface="Microsoft JhengHei" pitchFamily="34" charset="0"/>
                  <a:ea typeface="Microsoft JhengHei" pitchFamily="34" charset="-120"/>
                  <a:cs typeface="Microsoft JhengHei" pitchFamily="34" charset="-120"/>
                </a:rPr>
                <a:t>   Isaac Sim</a:t>
              </a:r>
              <a:endParaRPr lang="zh-TW" altLang="en-US" sz="950" dirty="0"/>
            </a:p>
          </p:txBody>
        </p:sp>
        <p:pic>
          <p:nvPicPr>
            <p:cNvPr id="79" name="Step 5 image" descr="模擬評估 (Isaac Sim)"/>
            <p:cNvPicPr>
              <a:picLocks noChangeAspect="1"/>
            </p:cNvPicPr>
            <p:nvPr/>
          </p:nvPicPr>
          <p:blipFill>
            <a:blip r:embed="rId11"/>
            <a:srcRect l="0" t="444" r="0" b="444"/>
            <a:stretch>
              <a:fillRect/>
            </a:stretch>
          </p:blipFill>
          <p:spPr>
            <a:xfrm>
              <a:off x="2819400" y="6430941"/>
              <a:ext cx="1914144" cy="1063413"/>
            </a:xfrm>
            <a:prstGeom prst="rect">
              <a:avLst/>
            </a:prstGeom>
            <a:ln w="6350">
              <a:solidFill>
                <a:srgbClr val="DDE3EA"/>
              </a:solidFill>
            </a:ln>
          </p:spPr>
        </p:pic>
        <p:sp>
          <p:nvSpPr>
            <p:cNvPr id="80" name="Step 6 card"/>
            <p:cNvSpPr/>
            <p:nvPr/>
          </p:nvSpPr>
          <p:spPr>
            <a:xfrm>
              <a:off x="4998720" y="6110901"/>
              <a:ext cx="2005584" cy="1429173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C9D1DC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1" name="Step 6 title"/>
            <p:cNvSpPr txBox="1"/>
            <p:nvPr/>
          </p:nvSpPr>
          <p:spPr>
            <a:xfrm>
              <a:off x="5090160" y="6138333"/>
              <a:ext cx="186842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eaLnBrk="1" latinLnBrk="0" hangingPunct="1">
                <a:lnSpc>
                  <a:spcPct val="100000"/>
                </a:lnSpc>
                <a:buNone/>
              </a:pPr>
              <a:r>
                <a:rPr lang="zh-TW" altLang="en-US" sz="950" b="1" dirty="0">
                  <a:solidFill>
                    <a:srgbClr val="1F3A5F"/>
                  </a:solidFill>
                  <a:latin typeface="Microsoft JhengHei" pitchFamily="34" charset="0"/>
                  <a:ea typeface="Microsoft JhengHei" pitchFamily="34" charset="-120"/>
                  <a:cs typeface="Microsoft JhengHei" pitchFamily="34" charset="-120"/>
                </a:rPr>
                <a:t>真機評估</a:t>
              </a:r>
              <a:r>
                <a:rPr lang="zh-TW" altLang="en-US" sz="800" dirty="0">
                  <a:solidFill>
                    <a:srgbClr val="5F6B7A"/>
                  </a:solidFill>
                  <a:latin typeface="Microsoft JhengHei" pitchFamily="34" charset="0"/>
                  <a:ea typeface="Microsoft JhengHei" pitchFamily="34" charset="-120"/>
                  <a:cs typeface="Microsoft JhengHei" pitchFamily="34" charset="-120"/>
                </a:rPr>
                <a:t>   Real World</a:t>
              </a:r>
              <a:endParaRPr lang="zh-TW" altLang="en-US" sz="950" dirty="0"/>
            </a:p>
          </p:txBody>
        </p:sp>
        <p:pic>
          <p:nvPicPr>
            <p:cNvPr id="82" name="Step 6 image" descr="真機評估 (Real World)"/>
            <p:cNvPicPr>
              <a:picLocks noChangeAspect="1"/>
            </p:cNvPicPr>
            <p:nvPr/>
          </p:nvPicPr>
          <p:blipFill>
            <a:blip r:embed="rId12"/>
            <a:srcRect l="1052" t="0" r="1052" b="0"/>
            <a:stretch>
              <a:fillRect/>
            </a:stretch>
          </p:blipFill>
          <p:spPr>
            <a:xfrm>
              <a:off x="5044440" y="6430941"/>
              <a:ext cx="1914144" cy="1063413"/>
            </a:xfrm>
            <a:prstGeom prst="rect">
              <a:avLst/>
            </a:prstGeom>
            <a:ln w="6350">
              <a:solidFill>
                <a:srgbClr val="DDE3EA"/>
              </a:solidFill>
            </a:ln>
          </p:spPr>
        </p:pic>
        <p:cxnSp>
          <p:nvCxnSpPr>
            <p:cNvPr id="83" name="Arrow 1-2"/>
            <p:cNvCxnSpPr/>
            <p:nvPr/>
          </p:nvCxnSpPr>
          <p:spPr>
            <a:xfrm>
              <a:off x="2590800" y="5295731"/>
              <a:ext cx="146304" cy="0"/>
            </a:xfrm>
            <a:prstGeom prst="straightConnector1">
              <a:avLst/>
            </a:prstGeom>
            <a:ln w="12700">
              <a:solidFill>
                <a:srgbClr val="8A94A3"/>
              </a:solidFill>
              <a:round/>
              <a:tailEnd type="triangle" w="med" len="med"/>
            </a:ln>
          </p:spPr>
        </p:cxnSp>
        <p:cxnSp>
          <p:nvCxnSpPr>
            <p:cNvPr id="84" name="Arrow 2-3"/>
            <p:cNvCxnSpPr/>
            <p:nvPr/>
          </p:nvCxnSpPr>
          <p:spPr>
            <a:xfrm>
              <a:off x="4815840" y="5295731"/>
              <a:ext cx="146304" cy="0"/>
            </a:xfrm>
            <a:prstGeom prst="straightConnector1">
              <a:avLst/>
            </a:prstGeom>
            <a:ln w="12700">
              <a:solidFill>
                <a:srgbClr val="8A94A3"/>
              </a:solidFill>
              <a:round/>
              <a:tailEnd type="triangle" w="med" len="med"/>
            </a:ln>
          </p:spPr>
        </p:cxnSp>
        <p:cxnSp>
          <p:nvCxnSpPr>
            <p:cNvPr id="85" name="Arrow 4-5"/>
            <p:cNvCxnSpPr/>
            <p:nvPr/>
          </p:nvCxnSpPr>
          <p:spPr>
            <a:xfrm>
              <a:off x="2590800" y="6962648"/>
              <a:ext cx="146304" cy="0"/>
            </a:xfrm>
            <a:prstGeom prst="straightConnector1">
              <a:avLst/>
            </a:prstGeom>
            <a:ln w="12700">
              <a:solidFill>
                <a:srgbClr val="8A94A3"/>
              </a:solidFill>
              <a:round/>
              <a:tailEnd type="triangle" w="med" len="med"/>
            </a:ln>
          </p:spPr>
        </p:cxnSp>
        <p:cxnSp>
          <p:nvCxnSpPr>
            <p:cNvPr id="86" name="Arrow 5-6"/>
            <p:cNvCxnSpPr/>
            <p:nvPr/>
          </p:nvCxnSpPr>
          <p:spPr>
            <a:xfrm>
              <a:off x="4815840" y="6962648"/>
              <a:ext cx="146304" cy="0"/>
            </a:xfrm>
            <a:prstGeom prst="straightConnector1">
              <a:avLst/>
            </a:prstGeom>
            <a:ln w="12700">
              <a:solidFill>
                <a:srgbClr val="8A94A3"/>
              </a:solidFill>
              <a:round/>
              <a:tailEnd type="triangle" w="med" len="med"/>
            </a:ln>
          </p:spPr>
        </p:cxnSp>
        <p:sp>
          <p:nvSpPr>
            <p:cNvPr id="87" name="Arrow 3-4"/>
            <p:cNvSpPr/>
            <p:nvPr/>
          </p:nvSpPr>
          <p:spPr>
            <a:xfrm>
              <a:off x="1551432" y="5873157"/>
              <a:ext cx="4450080" cy="237744"/>
            </a:xfrm>
            <a:custGeom>
              <a:avLst/>
              <a:gdLst/>
              <a:ahLst/>
              <a:cxnLst/>
              <a:rect l="l" t="t" r="r" b="b"/>
              <a:pathLst>
                <a:path w="4450080" h="237744" fill="none">
                  <a:moveTo>
                    <a:pt x="4450080" y="0"/>
                  </a:moveTo>
                  <a:lnTo>
                    <a:pt x="4450080" y="118872"/>
                  </a:lnTo>
                  <a:lnTo>
                    <a:pt x="0" y="118872"/>
                  </a:lnTo>
                  <a:lnTo>
                    <a:pt x="0" y="237744"/>
                  </a:lnTo>
                </a:path>
              </a:pathLst>
            </a:custGeom>
            <a:noFill/>
            <a:ln w="12700">
              <a:solidFill>
                <a:srgbClr val="8A94A3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58" name="S2 badge"/>
          <p:cNvSpPr/>
          <p:nvPr/>
        </p:nvSpPr>
        <p:spPr>
          <a:xfrm>
            <a:off x="548640" y="7741243"/>
            <a:ext cx="365760" cy="256032"/>
          </a:xfrm>
          <a:prstGeom prst="roundRect">
            <a:avLst>
              <a:gd name="adj" fmla="val 11667"/>
            </a:avLst>
          </a:prstGeom>
          <a:solidFill>
            <a:srgbClr val="1F3A5F"/>
          </a:solidFill>
          <a:ln w="9525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S2 badge text"/>
          <p:cNvSpPr txBox="1"/>
          <p:nvPr/>
        </p:nvSpPr>
        <p:spPr>
          <a:xfrm>
            <a:off x="548640" y="7741243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lnSpc>
                <a:spcPct val="100000"/>
              </a:lnSpc>
              <a:buNone/>
            </a:pPr>
            <a:r>
              <a:rPr lang="zh-TW" alt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02</a:t>
            </a:r>
            <a:endParaRPr lang="zh-TW" altLang="en-US" sz="950" dirty="0"/>
          </a:p>
        </p:txBody>
      </p:sp>
      <p:sp>
        <p:nvSpPr>
          <p:cNvPr id="60" name="S2 title"/>
          <p:cNvSpPr txBox="1"/>
          <p:nvPr/>
        </p:nvSpPr>
        <p:spPr>
          <a:xfrm>
            <a:off x="1024128" y="7741243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 latinLnBrk="0" hangingPunct="1">
              <a:lnSpc>
                <a:spcPct val="100000"/>
              </a:lnSpc>
              <a:buNone/>
            </a:pPr>
            <a:r>
              <a:rPr lang="zh-TW" altLang="en-US" sz="12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UMI 夾爪設計</a:t>
            </a:r>
            <a:endParaRPr lang="zh-TW" altLang="en-US" sz="1250" dirty="0"/>
          </a:p>
        </p:txBody>
      </p:sp>
      <p:sp>
        <p:nvSpPr>
          <p:cNvPr id="61" name="S2 note"/>
          <p:cNvSpPr txBox="1"/>
          <p:nvPr/>
        </p:nvSpPr>
        <p:spPr>
          <a:xfrm>
            <a:off x="4626864" y="7741243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1" latinLnBrk="0" hangingPunct="1">
              <a:lnSpc>
                <a:spcPct val="100000"/>
              </a:lnSpc>
              <a:buNone/>
            </a:pPr>
            <a:r>
              <a:rPr lang="zh-TW" altLang="en-US" sz="9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機構設計  ·  3D 列印</a:t>
            </a:r>
            <a:endParaRPr lang="zh-TW" altLang="en-US" sz="950" dirty="0"/>
          </a:p>
        </p:txBody>
      </p:sp>
      <p:pic>
        <p:nvPicPr>
          <p:cNvPr id="42" name="Image 1" descr="gripp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8088715"/>
            <a:ext cx="1828800" cy="1758361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548640" y="98836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1" latinLnBrk="0" hangingPunct="1">
              <a:buNone/>
            </a:pPr>
            <a:r>
              <a:rPr lang="zh-TW" altLang="en-US" sz="9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UMI 夾爪實機（3D 列印）</a:t>
            </a:r>
            <a:endParaRPr lang="zh-TW" altLang="en-US" sz="950" dirty="0"/>
          </a:p>
        </p:txBody>
      </p:sp>
      <p:sp>
        <p:nvSpPr>
          <p:cNvPr id="62" name="P2_c"/>
          <p:cNvSpPr txBox="1"/>
          <p:nvPr/>
        </p:nvSpPr>
        <p:spPr>
          <a:xfrm>
            <a:off x="2651760" y="8088715"/>
            <a:ext cx="4352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同一時間，我也幫一個還沒公開的專案設計夾爪。參考網路上幾種對稱開合的機構後畫出自己的版本，用 3D 列印反覆測試修改，最後裝到該專案雙足機器人的手臂末端。</a:t>
            </a:r>
            <a:endParaRPr lang="zh-TW" altLang="en-US" sz="1050" dirty="0"/>
          </a:p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之後接手的同學就能用它，照 UMI 開源夾爪的做法訓練模型。</a:t>
            </a:r>
            <a:endParaRPr lang="zh-TW" altLang="en-US" sz="1050" dirty="0"/>
          </a:p>
        </p:txBody>
      </p:sp>
      <p:sp>
        <p:nvSpPr>
          <p:cNvPr id="63" name="Takeaway box"/>
          <p:cNvSpPr/>
          <p:nvPr/>
        </p:nvSpPr>
        <p:spPr>
          <a:xfrm>
            <a:off x="2651760" y="9206996"/>
            <a:ext cx="4352544" cy="640080"/>
          </a:xfrm>
          <a:prstGeom prst="roundRect">
            <a:avLst>
              <a:gd name="adj" fmla="val 11667"/>
            </a:avLst>
          </a:prstGeom>
          <a:solidFill>
            <a:srgbClr val="EEF2F7"/>
          </a:solidFill>
          <a:ln w="9525">
            <a:solidFill>
              <a:srgbClr val="C9D1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Takeaway text"/>
          <p:cNvSpPr txBox="1"/>
          <p:nvPr/>
        </p:nvSpPr>
        <p:spPr>
          <a:xfrm>
            <a:off x="2816352" y="920699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 latinLnBrk="0" hangingPunct="1">
              <a:lnSpc>
                <a:spcPct val="130000"/>
              </a:lnSpc>
              <a:buNone/>
            </a:pPr>
            <a:r>
              <a:rPr lang="zh-TW" altLang="en-US" sz="10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收穫：</a:t>
            </a: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這兩個月實際從模擬做到真機（sim-to-real），也讓我在機器人學習這個方向上鑽得更深。</a:t>
            </a:r>
            <a:endParaRPr lang="zh-TW" alt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9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姜兆源</a:t>
            </a:r>
            <a:r>
              <a:rPr lang="zh-TW" altLang="en-US" sz="9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  Tera  ·  Curriculum Vitae</a:t>
            </a:r>
            <a:endParaRPr lang="zh-TW" alt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264762" y="3474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eaLnBrk="1" latinLnBrk="0" hangingPunct="1">
              <a:buNone/>
            </a:pPr>
            <a:r>
              <a:rPr lang="zh-TW" altLang="en-US" sz="900" kern="0" spc="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PROJECTS</a:t>
            </a:r>
            <a:endParaRPr lang="zh-TW" alt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6459322" cy="0"/>
          </a:xfrm>
          <a:prstGeom prst="line">
            <a:avLst/>
          </a:prstGeom>
          <a:noFill/>
          <a:ln w="9525">
            <a:solidFill>
              <a:srgbClr val="C9D1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6093562" y="10248595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eaLnBrk="1" latinLnBrk="0" hangingPunct="1">
              <a:buNone/>
            </a:pPr>
            <a:r>
              <a:rPr lang="zh-TW" altLang="en-US" sz="9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3 / 6</a:t>
            </a:r>
            <a:endParaRPr lang="zh-TW" alt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6459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000" b="1" kern="0" spc="2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PROJECT 01</a:t>
            </a:r>
            <a:endParaRPr lang="zh-TW" alt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33856"/>
            <a:ext cx="64593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20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TEL Robot Combat 射球機器人</a:t>
            </a:r>
            <a:endParaRPr lang="zh-TW" alt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9344"/>
            <a:ext cx="64593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0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隊長  ·  機構與電路設計  ·  2025 東京威力科創機器人大賽</a:t>
            </a:r>
            <a:endParaRPr lang="zh-TW" alt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956816"/>
            <a:ext cx="804672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195681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Fusion 360</a:t>
            </a:r>
            <a:endParaRPr lang="zh-TW" alt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21892" y="1956816"/>
            <a:ext cx="676656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1421892" y="1956816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機構設計</a:t>
            </a:r>
            <a:endParaRPr lang="zh-TW" alt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67128" y="1956816"/>
            <a:ext cx="623621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2167128" y="1956816"/>
            <a:ext cx="62362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3D 列印</a:t>
            </a:r>
            <a:endParaRPr lang="zh-TW" alt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859329" y="1956816"/>
            <a:ext cx="676656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2859329" y="1956816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電路佈局</a:t>
            </a:r>
            <a:endParaRPr lang="zh-TW" alt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04565" y="1956816"/>
            <a:ext cx="676656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 txBox="1"/>
          <p:nvPr/>
        </p:nvSpPr>
        <p:spPr>
          <a:xfrm>
            <a:off x="3604565" y="1956816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快速原型</a:t>
            </a:r>
            <a:endParaRPr lang="zh-TW" altLang="en-US" sz="900" dirty="0"/>
          </a:p>
        </p:txBody>
      </p:sp>
      <p:sp>
        <p:nvSpPr>
          <p:cNvPr id="30" name="Tag box 2"/>
          <p:cNvSpPr/>
          <p:nvPr/>
        </p:nvSpPr>
        <p:spPr>
          <a:xfrm>
            <a:off x="4343766" y="1956816"/>
            <a:ext cx="676656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ag text 2"/>
          <p:cNvSpPr txBox="1"/>
          <p:nvPr/>
        </p:nvSpPr>
        <p:spPr>
          <a:xfrm>
            <a:off x="4343766" y="1956816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團隊合作</a:t>
            </a:r>
            <a:endParaRPr lang="zh-TW" altLang="en-US" sz="900" dirty="0"/>
          </a:p>
        </p:txBody>
      </p:sp>
      <p:sp>
        <p:nvSpPr>
          <p:cNvPr id="21" name="P3_a"/>
          <p:cNvSpPr txBox="1"/>
          <p:nvPr/>
        </p:nvSpPr>
        <p:spPr>
          <a:xfrm>
            <a:off x="548640" y="2359152"/>
            <a:ext cx="645932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2025 東京威力科創機器人大賽（TEL Robot Combat）要在三個月內從零做出一台自動射球機器人，把球射進九宮格靶孔。我是四人隊伍的隊長，負責整台的硬體架構、機構與電路設計，也帶團隊分工。</a:t>
            </a:r>
            <a:endParaRPr lang="zh-TW" altLang="en-US" sz="1050" dirty="0"/>
          </a:p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我做的部分：</a:t>
            </a: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先用 Fusion 360 畫出全機 3D 模型，用鋁擠型搭出車架、裝上麥克納姆輪，完成馬達接線和電源配置，再設計並 3D 列印所有關鍵機構。球在機器裡是這樣走的：</a:t>
            </a:r>
            <a:endParaRPr lang="zh-TW" altLang="en-US" sz="1050" dirty="0"/>
          </a:p>
        </p:txBody>
      </p:sp>
      <p:sp>
        <p:nvSpPr>
          <p:cNvPr id="32" name="Flow box 1"/>
          <p:cNvSpPr/>
          <p:nvPr/>
        </p:nvSpPr>
        <p:spPr>
          <a:xfrm>
            <a:off x="548640" y="3383280"/>
            <a:ext cx="1130930" cy="512064"/>
          </a:xfrm>
          <a:prstGeom prst="roundRect">
            <a:avLst>
              <a:gd name="adj" fmla="val 11667"/>
            </a:avLst>
          </a:prstGeom>
          <a:solidFill>
            <a:srgbClr val="EEF2F7"/>
          </a:solidFill>
          <a:ln w="9525">
            <a:solidFill>
              <a:srgbClr val="C9D1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Flow text 1"/>
          <p:cNvSpPr txBox="1"/>
          <p:nvPr/>
        </p:nvSpPr>
        <p:spPr>
          <a:xfrm>
            <a:off x="548640" y="3383280"/>
            <a:ext cx="11309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lnSpc>
                <a:spcPct val="105000"/>
              </a:lnSpc>
              <a:buNone/>
            </a:pPr>
            <a:r>
              <a:rPr lang="zh-TW" altLang="en-US" sz="9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儲球槽</a:t>
            </a:r>
            <a:endParaRPr lang="zh-TW" altLang="en-US" sz="950" dirty="0"/>
          </a:p>
          <a:p>
            <a:pPr marL="0" indent="0" algn="ctr" eaLnBrk="1" latinLnBrk="0" hangingPunct="1">
              <a:lnSpc>
                <a:spcPct val="105000"/>
              </a:lnSpc>
              <a:buNone/>
            </a:pPr>
            <a:r>
              <a:rPr lang="zh-TW" altLang="en-US" sz="8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斜底＋撥桿防卡球</a:t>
            </a:r>
            <a:endParaRPr lang="zh-TW" altLang="en-US" sz="800" dirty="0"/>
          </a:p>
        </p:txBody>
      </p:sp>
      <p:sp>
        <p:nvSpPr>
          <p:cNvPr id="34" name="Flow arrow 1"/>
          <p:cNvSpPr txBox="1"/>
          <p:nvPr/>
        </p:nvSpPr>
        <p:spPr>
          <a:xfrm>
            <a:off x="1679570" y="3383280"/>
            <a:ext cx="201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16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›</a:t>
            </a:r>
            <a:endParaRPr lang="zh-TW" altLang="en-US" sz="1600" dirty="0"/>
          </a:p>
        </p:txBody>
      </p:sp>
      <p:sp>
        <p:nvSpPr>
          <p:cNvPr id="35" name="Flow box 2"/>
          <p:cNvSpPr/>
          <p:nvPr/>
        </p:nvSpPr>
        <p:spPr>
          <a:xfrm>
            <a:off x="1880738" y="3383280"/>
            <a:ext cx="1130930" cy="512064"/>
          </a:xfrm>
          <a:prstGeom prst="roundRect">
            <a:avLst>
              <a:gd name="adj" fmla="val 11667"/>
            </a:avLst>
          </a:prstGeom>
          <a:solidFill>
            <a:srgbClr val="EEF2F7"/>
          </a:solidFill>
          <a:ln w="9525">
            <a:solidFill>
              <a:srgbClr val="C9D1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Flow text 2"/>
          <p:cNvSpPr txBox="1"/>
          <p:nvPr/>
        </p:nvSpPr>
        <p:spPr>
          <a:xfrm>
            <a:off x="1880738" y="3383280"/>
            <a:ext cx="11309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lnSpc>
                <a:spcPct val="105000"/>
              </a:lnSpc>
              <a:buNone/>
            </a:pPr>
            <a:r>
              <a:rPr lang="zh-TW" altLang="en-US" sz="9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皮帶提升</a:t>
            </a:r>
            <a:endParaRPr lang="zh-TW" altLang="en-US" sz="950" dirty="0"/>
          </a:p>
          <a:p>
            <a:pPr marL="0" indent="0" algn="ctr" eaLnBrk="1" latinLnBrk="0" hangingPunct="1">
              <a:lnSpc>
                <a:spcPct val="105000"/>
              </a:lnSpc>
              <a:buNone/>
            </a:pPr>
            <a:r>
              <a:rPr lang="zh-TW" altLang="en-US" sz="8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取代阿基米德螺旋</a:t>
            </a:r>
            <a:endParaRPr lang="zh-TW" altLang="en-US" sz="800" dirty="0"/>
          </a:p>
        </p:txBody>
      </p:sp>
      <p:sp>
        <p:nvSpPr>
          <p:cNvPr id="37" name="Flow arrow 2"/>
          <p:cNvSpPr txBox="1"/>
          <p:nvPr/>
        </p:nvSpPr>
        <p:spPr>
          <a:xfrm>
            <a:off x="3011668" y="3383280"/>
            <a:ext cx="201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16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›</a:t>
            </a:r>
            <a:endParaRPr lang="zh-TW" altLang="en-US" sz="1600" dirty="0"/>
          </a:p>
        </p:txBody>
      </p:sp>
      <p:sp>
        <p:nvSpPr>
          <p:cNvPr id="38" name="Flow box 3"/>
          <p:cNvSpPr/>
          <p:nvPr/>
        </p:nvSpPr>
        <p:spPr>
          <a:xfrm>
            <a:off x="3212836" y="3383280"/>
            <a:ext cx="1130930" cy="512064"/>
          </a:xfrm>
          <a:prstGeom prst="roundRect">
            <a:avLst>
              <a:gd name="adj" fmla="val 11667"/>
            </a:avLst>
          </a:prstGeom>
          <a:solidFill>
            <a:srgbClr val="EEF2F7"/>
          </a:solidFill>
          <a:ln w="9525">
            <a:solidFill>
              <a:srgbClr val="C9D1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Flow text 3"/>
          <p:cNvSpPr txBox="1"/>
          <p:nvPr/>
        </p:nvSpPr>
        <p:spPr>
          <a:xfrm>
            <a:off x="3212836" y="3383280"/>
            <a:ext cx="11309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lnSpc>
                <a:spcPct val="105000"/>
              </a:lnSpc>
              <a:buNone/>
            </a:pPr>
            <a:r>
              <a:rPr lang="zh-TW" altLang="en-US" sz="9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紅外線偵測</a:t>
            </a:r>
            <a:endParaRPr lang="zh-TW" altLang="en-US" sz="950" dirty="0"/>
          </a:p>
          <a:p>
            <a:pPr marL="0" indent="0" algn="ctr" eaLnBrk="1" latinLnBrk="0" hangingPunct="1">
              <a:lnSpc>
                <a:spcPct val="105000"/>
              </a:lnSpc>
              <a:buNone/>
            </a:pPr>
            <a:r>
              <a:rPr lang="zh-TW" altLang="en-US" sz="8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偵測到球就停止送球</a:t>
            </a:r>
            <a:endParaRPr lang="zh-TW" altLang="en-US" sz="800" dirty="0"/>
          </a:p>
        </p:txBody>
      </p:sp>
      <p:sp>
        <p:nvSpPr>
          <p:cNvPr id="40" name="Flow arrow 3"/>
          <p:cNvSpPr txBox="1"/>
          <p:nvPr/>
        </p:nvSpPr>
        <p:spPr>
          <a:xfrm>
            <a:off x="4343766" y="3383280"/>
            <a:ext cx="201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16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›</a:t>
            </a:r>
            <a:endParaRPr lang="zh-TW" altLang="en-US" sz="1600" dirty="0"/>
          </a:p>
        </p:txBody>
      </p:sp>
      <p:sp>
        <p:nvSpPr>
          <p:cNvPr id="41" name="Flow box 4"/>
          <p:cNvSpPr/>
          <p:nvPr/>
        </p:nvSpPr>
        <p:spPr>
          <a:xfrm>
            <a:off x="4544934" y="3383280"/>
            <a:ext cx="1130930" cy="512064"/>
          </a:xfrm>
          <a:prstGeom prst="roundRect">
            <a:avLst>
              <a:gd name="adj" fmla="val 11667"/>
            </a:avLst>
          </a:prstGeom>
          <a:solidFill>
            <a:srgbClr val="EEF2F7"/>
          </a:solidFill>
          <a:ln w="9525">
            <a:solidFill>
              <a:srgbClr val="C9D1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Flow text 4"/>
          <p:cNvSpPr txBox="1"/>
          <p:nvPr/>
        </p:nvSpPr>
        <p:spPr>
          <a:xfrm>
            <a:off x="4544934" y="3383280"/>
            <a:ext cx="11309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lnSpc>
                <a:spcPct val="105000"/>
              </a:lnSpc>
              <a:buNone/>
            </a:pPr>
            <a:r>
              <a:rPr lang="zh-TW" altLang="en-US" sz="9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凸輪搭橋</a:t>
            </a:r>
            <a:endParaRPr lang="zh-TW" altLang="en-US" sz="950" dirty="0"/>
          </a:p>
          <a:p>
            <a:pPr marL="0" indent="0" algn="ctr" eaLnBrk="1" latinLnBrk="0" hangingPunct="1">
              <a:lnSpc>
                <a:spcPct val="105000"/>
              </a:lnSpc>
              <a:buNone/>
            </a:pPr>
            <a:r>
              <a:rPr lang="zh-TW" altLang="en-US" sz="8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轉一圈送進砲艙</a:t>
            </a:r>
            <a:endParaRPr lang="zh-TW" altLang="en-US" sz="800" dirty="0"/>
          </a:p>
        </p:txBody>
      </p:sp>
      <p:sp>
        <p:nvSpPr>
          <p:cNvPr id="43" name="Flow arrow 4"/>
          <p:cNvSpPr txBox="1"/>
          <p:nvPr/>
        </p:nvSpPr>
        <p:spPr>
          <a:xfrm>
            <a:off x="5675864" y="3383280"/>
            <a:ext cx="201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16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›</a:t>
            </a:r>
            <a:endParaRPr lang="zh-TW" altLang="en-US" sz="1600" dirty="0"/>
          </a:p>
        </p:txBody>
      </p:sp>
      <p:sp>
        <p:nvSpPr>
          <p:cNvPr id="44" name="Flow box 5"/>
          <p:cNvSpPr/>
          <p:nvPr/>
        </p:nvSpPr>
        <p:spPr>
          <a:xfrm>
            <a:off x="5877032" y="3383280"/>
            <a:ext cx="1130930" cy="512064"/>
          </a:xfrm>
          <a:prstGeom prst="roundRect">
            <a:avLst>
              <a:gd name="adj" fmla="val 11667"/>
            </a:avLst>
          </a:prstGeom>
          <a:solidFill>
            <a:srgbClr val="EEF2F7"/>
          </a:solidFill>
          <a:ln w="9525">
            <a:solidFill>
              <a:srgbClr val="C9D1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Flow text 5"/>
          <p:cNvSpPr txBox="1"/>
          <p:nvPr/>
        </p:nvSpPr>
        <p:spPr>
          <a:xfrm>
            <a:off x="5877032" y="3383280"/>
            <a:ext cx="11309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lnSpc>
                <a:spcPct val="105000"/>
              </a:lnSpc>
              <a:buNone/>
            </a:pPr>
            <a:r>
              <a:rPr lang="zh-TW" altLang="en-US" sz="9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無刷雙飛輪發射</a:t>
            </a:r>
            <a:endParaRPr lang="zh-TW" altLang="en-US" sz="950" dirty="0"/>
          </a:p>
          <a:p>
            <a:pPr marL="0" indent="0" algn="ctr" eaLnBrk="1" latinLnBrk="0" hangingPunct="1">
              <a:lnSpc>
                <a:spcPct val="105000"/>
              </a:lnSpc>
              <a:buNone/>
            </a:pPr>
            <a:r>
              <a:rPr lang="zh-TW" altLang="en-US" sz="8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初速 12–15 m/s</a:t>
            </a:r>
            <a:endParaRPr lang="zh-TW" altLang="en-US" sz="800" dirty="0"/>
          </a:p>
        </p:txBody>
      </p:sp>
      <p:sp>
        <p:nvSpPr>
          <p:cNvPr id="46" name="P3_b"/>
          <p:cNvSpPr txBox="1"/>
          <p:nvPr/>
        </p:nvSpPr>
        <p:spPr>
          <a:xfrm>
            <a:off x="548640" y="4023360"/>
            <a:ext cx="645932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設計重點：</a:t>
            </a: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機體分上、中、下三層。電池、Jetson Orin、STM32、馬達驅動和光達集中在最下層壓低重心，抵消射球時的後座力；中層是儲球槽；上層是送球機構和可水平、俯仰轉動的雙飛輪砲台。搭橋機構送完球就收回，不會擋到砲台轉動；ZED 深度相機貼近砲管軸線，減少瞄準時的視差。</a:t>
            </a:r>
            <a:endParaRPr lang="zh-TW" altLang="en-US" sz="1050" dirty="0"/>
          </a:p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整機系統：</a:t>
            </a: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軟體與 AI 由隊友負責：Jetson Orin 做決策、STM32 做即時控制；用 YOLOv11-seg 辨識場上的「TEL 10 TEL」字樣，再以 SolvePnP 和 Canny 邊緣精修算出孔洞 3D 座標、自動瞄準。考量射球才是得分關鍵，最後採用「手動移動＋自動瞄準」的策略。</a:t>
            </a:r>
            <a:endParaRPr lang="zh-TW" altLang="en-US" sz="1050" dirty="0"/>
          </a:p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遇到的問題：</a:t>
            </a: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初步測試時底盤馬達高速空轉停不下來，和隊友排查後才發現是接線錯誤，加上跳過了 MCU 開機自檢。另外有幾個 3D 列印零件因為疲勞和應力集中斷裂，看得出原因卻來不及重新設計，讓我知道材料特性和結構模擬是我還要補強的地方。</a:t>
            </a:r>
            <a:endParaRPr lang="zh-TW" altLang="en-US" sz="1050" dirty="0"/>
          </a:p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結果：</a:t>
            </a: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射擊初速穩定在 12–15 m/s，團隊拿到創意技術獎特優。做完這台，我對軟硬體整合、失效分析和快速打樣都更有把握，也學到比賽時要懂得務實取捨。</a:t>
            </a:r>
            <a:endParaRPr lang="zh-TW" altLang="en-US" sz="1050" dirty="0"/>
          </a:p>
        </p:txBody>
      </p:sp>
      <p:pic>
        <p:nvPicPr>
          <p:cNvPr id="22" name="Image 0" descr="cad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302" y="6693408"/>
            <a:ext cx="2409347" cy="1572768"/>
          </a:xfrm>
          <a:prstGeom prst="rect">
            <a:avLst/>
          </a:prstGeom>
        </p:spPr>
      </p:pic>
      <p:pic>
        <p:nvPicPr>
          <p:cNvPr id="23" name="Image 1" descr="cad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410" y="6693408"/>
            <a:ext cx="2597232" cy="157276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48640" y="8302752"/>
            <a:ext cx="64593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1" latinLnBrk="0" hangingPunct="1">
              <a:buNone/>
            </a:pPr>
            <a:r>
              <a:rPr lang="zh-TW" altLang="en-US" sz="9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全機 Fusion 360 模型與元件配置</a:t>
            </a:r>
            <a:endParaRPr lang="zh-TW" altLang="en-US" sz="950" dirty="0"/>
          </a:p>
        </p:txBody>
      </p:sp>
      <p:pic>
        <p:nvPicPr>
          <p:cNvPr id="25" name="Image 2" descr="aw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8613648"/>
            <a:ext cx="2518417" cy="141732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3341377" y="8613648"/>
            <a:ext cx="3662927" cy="141732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2"/>
          <p:cNvSpPr txBox="1"/>
          <p:nvPr/>
        </p:nvSpPr>
        <p:spPr>
          <a:xfrm>
            <a:off x="3542545" y="8723376"/>
            <a:ext cx="3260591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 latinLnBrk="0" hangingPunct="1">
              <a:lnSpc>
                <a:spcPct val="115000"/>
              </a:lnSpc>
              <a:buNone/>
            </a:pPr>
            <a:r>
              <a:rPr lang="zh-TW" altLang="en-US" sz="950" b="1" kern="0" spc="1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競賽成果</a:t>
            </a:r>
            <a:endParaRPr lang="zh-TW" altLang="en-US" sz="950" dirty="0"/>
          </a:p>
          <a:p>
            <a:pPr marL="0" indent="0" eaLnBrk="1" latinLnBrk="0" hangingPunct="1">
              <a:lnSpc>
                <a:spcPct val="115000"/>
              </a:lnSpc>
              <a:buNone/>
            </a:pPr>
            <a:r>
              <a:rPr lang="zh-TW" altLang="en-US" sz="18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創意技術獎  特優</a:t>
            </a:r>
            <a:endParaRPr lang="zh-TW" altLang="en-US" sz="950" dirty="0"/>
          </a:p>
          <a:p>
            <a:pPr marL="0" indent="0" eaLnBrk="1" latinLnBrk="0" hangingPunct="1">
              <a:lnSpc>
                <a:spcPct val="115000"/>
              </a:lnSpc>
              <a:buNone/>
            </a:pPr>
            <a:r>
              <a:rPr lang="zh-TW" altLang="en-US" sz="10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2025 TEL Robot Combat｜威力菜菜撈撈隊</a:t>
            </a:r>
            <a:endParaRPr lang="zh-TW" altLang="en-US" sz="950" dirty="0"/>
          </a:p>
          <a:p>
            <a:pPr marL="0" indent="0" eaLnBrk="1" latinLnBrk="0" hangingPunct="1">
              <a:lnSpc>
                <a:spcPct val="115000"/>
              </a:lnSpc>
              <a:buNone/>
            </a:pPr>
            <a:r>
              <a:rPr lang="zh-TW" altLang="en-US" sz="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 </a:t>
            </a:r>
            <a:endParaRPr lang="zh-TW" altLang="en-US" sz="950" dirty="0"/>
          </a:p>
          <a:p>
            <a:pPr marL="0" indent="0" eaLnBrk="1" latinLnBrk="0" hangingPunct="1">
              <a:lnSpc>
                <a:spcPct val="115000"/>
              </a:lnSpc>
              <a:buNone/>
            </a:pPr>
            <a:r>
              <a:rPr lang="zh-TW" altLang="en-US" sz="1000" b="1" u="sng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成果影片（YouTube）</a:t>
            </a:r>
            <a:endParaRPr lang="zh-TW" altLang="en-US" sz="950" dirty="0"/>
          </a:p>
          <a:p>
            <a:pPr marL="0" indent="0" eaLnBrk="1" latinLnBrk="0" hangingPunct="1">
              <a:lnSpc>
                <a:spcPct val="115000"/>
              </a:lnSpc>
              <a:buNone/>
            </a:pPr>
            <a:r>
              <a:rPr lang="zh-TW" altLang="en-US" sz="850" u="sng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youtube.com/watch?v=HYy7l3UrIzA</a:t>
            </a:r>
            <a:endParaRPr lang="zh-TW" alt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9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姜兆源</a:t>
            </a:r>
            <a:r>
              <a:rPr lang="zh-TW" altLang="en-US" sz="9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  Tera  ·  Curriculum Vitae</a:t>
            </a:r>
            <a:endParaRPr lang="zh-TW" alt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264762" y="3474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eaLnBrk="1" latinLnBrk="0" hangingPunct="1">
              <a:buNone/>
            </a:pPr>
            <a:r>
              <a:rPr lang="zh-TW" altLang="en-US" sz="900" kern="0" spc="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PROJECTS</a:t>
            </a:r>
            <a:endParaRPr lang="zh-TW" alt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6459322" cy="0"/>
          </a:xfrm>
          <a:prstGeom prst="line">
            <a:avLst/>
          </a:prstGeom>
          <a:noFill/>
          <a:ln w="9525">
            <a:solidFill>
              <a:srgbClr val="C9D1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6093562" y="10248595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eaLnBrk="1" latinLnBrk="0" hangingPunct="1">
              <a:buNone/>
            </a:pPr>
            <a:r>
              <a:rPr lang="zh-TW" altLang="en-US" sz="9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4 / 6</a:t>
            </a:r>
            <a:endParaRPr lang="zh-TW" alt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6459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000" b="1" kern="0" spc="2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PROJECT 02</a:t>
            </a:r>
            <a:endParaRPr lang="zh-TW" alt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33856"/>
            <a:ext cx="64593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20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機器導航課程實作</a:t>
            </a:r>
            <a:endParaRPr lang="zh-TW" alt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9344"/>
            <a:ext cx="64593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0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清華大學  ·  機器導航課程</a:t>
            </a:r>
            <a:endParaRPr lang="zh-TW" alt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956816"/>
            <a:ext cx="349758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1956816"/>
            <a:ext cx="34975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A*</a:t>
            </a:r>
            <a:endParaRPr lang="zh-TW" alt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71550" y="1956816"/>
            <a:ext cx="491490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971550" y="1956816"/>
            <a:ext cx="4914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RRT*</a:t>
            </a:r>
            <a:endParaRPr lang="zh-TW" alt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36192" y="1956816"/>
            <a:ext cx="646938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1536192" y="1956816"/>
            <a:ext cx="64693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Stanley</a:t>
            </a:r>
            <a:endParaRPr lang="zh-TW" alt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56282" y="1956816"/>
            <a:ext cx="432054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2256282" y="1956816"/>
            <a:ext cx="4320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LQR</a:t>
            </a:r>
            <a:endParaRPr lang="zh-TW" alt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61488" y="1956816"/>
            <a:ext cx="676656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2761488" y="1956816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強化學習</a:t>
            </a:r>
            <a:endParaRPr lang="zh-TW" alt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11296" y="1956816"/>
            <a:ext cx="525780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 txBox="1"/>
          <p:nvPr/>
        </p:nvSpPr>
        <p:spPr>
          <a:xfrm>
            <a:off x="3511296" y="1956816"/>
            <a:ext cx="5257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ROS 2</a:t>
            </a:r>
            <a:endParaRPr lang="zh-TW" altLang="en-US" sz="900" dirty="0"/>
          </a:p>
        </p:txBody>
      </p:sp>
      <p:sp>
        <p:nvSpPr>
          <p:cNvPr id="21" name="P4_a"/>
          <p:cNvSpPr txBox="1"/>
          <p:nvPr/>
        </p:nvSpPr>
        <p:spPr>
          <a:xfrm>
            <a:off x="548640" y="2496312"/>
            <a:ext cx="6459322" cy="276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以車輛運動學模型為基礎，從地圖探索、全域路徑規劃做到局部軌跡追蹤，並把其中一部分搬到 ROS 2 上練習節點通訊。</a:t>
            </a:r>
            <a:endParaRPr lang="zh-TW" altLang="en-US" sz="1050" dirty="0"/>
          </a:p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路徑規劃（Path Planning）：</a:t>
            </a: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實作以圖搜尋為基礎的 A* 和以取樣為基礎的 RRT*。在模擬中反覆調整步長和尋優半徑，比較兩者在障礙物複雜的地圖上的表現，也觀察 RRT* 如何逐步收斂到最佳路徑。</a:t>
            </a:r>
            <a:endParaRPr lang="zh-TW" altLang="en-US" sz="1050" dirty="0"/>
          </a:p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軌跡追蹤（Trajectory Tracking）：</a:t>
            </a: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為了讓車子穩定沿著路徑走，分別實作幾何式的 Stanley 控制器，和基於最佳控制的 LQR（線性二次調節器）。</a:t>
            </a:r>
            <a:endParaRPr lang="zh-TW" altLang="en-US" sz="1050" dirty="0"/>
          </a:p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Proly 強化學習旗幟奪取：</a:t>
            </a: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嘗試把強化學習用在機器人決策上，目標是讓 agent 在會變動的環境裡自己學會導航並搶到旗子。這部分主要在練習 reward function 的設計和狀態空間的定義，對資料驅動的控制方法算是有了初步的實作經驗。</a:t>
            </a:r>
            <a:endParaRPr lang="zh-TW" altLang="en-US" sz="1050" dirty="0"/>
          </a:p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ROS 2：</a:t>
            </a: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把控制器和路徑規劃器拆成不同的節點，用 topic 發布、訂閱車輛狀態和控制指令。過程中碰到節點之間的通訊延遲，以及訊息型別對不上的問題。這部分只停留在基礎通訊的除錯，還沒做完整的系統整合，但讓我第一次實際理解分散式機器人系統是怎麼組起來的。</a:t>
            </a:r>
            <a:endParaRPr lang="zh-TW" altLang="en-US" sz="1050" dirty="0"/>
          </a:p>
        </p:txBody>
      </p:sp>
      <p:pic>
        <p:nvPicPr>
          <p:cNvPr id="22" name="Image 0" descr="r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570581"/>
            <a:ext cx="3092501" cy="168421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48640" y="7349947"/>
            <a:ext cx="30925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1" latinLnBrk="0" hangingPunct="1">
              <a:buNone/>
            </a:pPr>
            <a:r>
              <a:rPr lang="zh-TW" altLang="en-US" sz="9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RRT* 演算法實作</a:t>
            </a:r>
            <a:endParaRPr lang="zh-TW" altLang="en-US" sz="950" dirty="0"/>
          </a:p>
        </p:txBody>
      </p:sp>
      <p:pic>
        <p:nvPicPr>
          <p:cNvPr id="24" name="Image 1" descr="k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481" y="5521147"/>
            <a:ext cx="2410460" cy="178308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3915461" y="7349947"/>
            <a:ext cx="30925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1" latinLnBrk="0" hangingPunct="1">
              <a:buNone/>
            </a:pPr>
            <a:r>
              <a:rPr lang="zh-TW" altLang="en-US" sz="9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Kinematic Models 與 Path Tracking Control 實作</a:t>
            </a:r>
            <a:endParaRPr lang="zh-TW" altLang="en-US" sz="950" dirty="0"/>
          </a:p>
        </p:txBody>
      </p:sp>
      <p:pic>
        <p:nvPicPr>
          <p:cNvPr id="26" name="Image 2" descr="prol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7810030"/>
            <a:ext cx="3092501" cy="159443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48640" y="9544507"/>
            <a:ext cx="30925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1" latinLnBrk="0" hangingPunct="1">
              <a:buNone/>
            </a:pPr>
            <a:r>
              <a:rPr lang="zh-TW" altLang="en-US" sz="9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Proly 強化學習旗幟奪取實作</a:t>
            </a:r>
            <a:endParaRPr lang="zh-TW" altLang="en-US" sz="950" dirty="0"/>
          </a:p>
        </p:txBody>
      </p:sp>
      <p:pic>
        <p:nvPicPr>
          <p:cNvPr id="28" name="Image 3" descr="ro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4751" y="7715707"/>
            <a:ext cx="3013920" cy="178308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3915461" y="9544507"/>
            <a:ext cx="30925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1" latinLnBrk="0" hangingPunct="1">
              <a:buNone/>
            </a:pPr>
            <a:r>
              <a:rPr lang="zh-TW" altLang="en-US" sz="9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ROS 2 夾取機器車實作</a:t>
            </a:r>
            <a:endParaRPr lang="zh-TW" alt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9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姜兆源</a:t>
            </a:r>
            <a:r>
              <a:rPr lang="zh-TW" altLang="en-US" sz="9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  Tera  ·  Curriculum Vitae</a:t>
            </a:r>
            <a:endParaRPr lang="zh-TW" alt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264762" y="3474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eaLnBrk="1" latinLnBrk="0" hangingPunct="1">
              <a:buNone/>
            </a:pPr>
            <a:r>
              <a:rPr lang="zh-TW" altLang="en-US" sz="900" kern="0" spc="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PROJECTS</a:t>
            </a:r>
            <a:endParaRPr lang="zh-TW" alt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6459322" cy="0"/>
          </a:xfrm>
          <a:prstGeom prst="line">
            <a:avLst/>
          </a:prstGeom>
          <a:noFill/>
          <a:ln w="9525">
            <a:solidFill>
              <a:srgbClr val="C9D1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6093562" y="10248595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eaLnBrk="1" latinLnBrk="0" hangingPunct="1">
              <a:buNone/>
            </a:pPr>
            <a:r>
              <a:rPr lang="zh-TW" altLang="en-US" sz="9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5 / 6</a:t>
            </a:r>
            <a:endParaRPr lang="zh-TW" alt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6459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000" b="1" kern="0" spc="2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PROJECT 03</a:t>
            </a:r>
            <a:endParaRPr lang="zh-TW" alt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33856"/>
            <a:ext cx="64593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20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多模態交叉注意力機制智慧垃圾桶</a:t>
            </a:r>
            <a:endParaRPr lang="zh-TW" alt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9344"/>
            <a:ext cx="64593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0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大專生研究計畫  ·  專題組長</a:t>
            </a:r>
            <a:endParaRPr lang="zh-TW" alt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956816"/>
            <a:ext cx="1019556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1956816"/>
            <a:ext cx="10195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多模態深度學習</a:t>
            </a:r>
            <a:endParaRPr lang="zh-TW" alt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1348" y="1956816"/>
            <a:ext cx="1133856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1641348" y="1956816"/>
            <a:ext cx="1133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Cross-Attention</a:t>
            </a:r>
            <a:endParaRPr lang="zh-TW" alt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48356" y="1956816"/>
            <a:ext cx="994410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2848356" y="1956816"/>
            <a:ext cx="99441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MFCC 音訊特徵</a:t>
            </a:r>
            <a:endParaRPr lang="zh-TW" alt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15918" y="1956816"/>
            <a:ext cx="676656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3915918" y="1956816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電腦視覺</a:t>
            </a:r>
            <a:endParaRPr lang="zh-TW" alt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5726" y="1956816"/>
            <a:ext cx="658368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4665726" y="1956816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PyTorch</a:t>
            </a:r>
            <a:endParaRPr lang="zh-TW" alt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97246" y="1956816"/>
            <a:ext cx="790956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 txBox="1"/>
          <p:nvPr/>
        </p:nvSpPr>
        <p:spPr>
          <a:xfrm>
            <a:off x="5397246" y="1956816"/>
            <a:ext cx="7909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邊緣端部署</a:t>
            </a:r>
            <a:endParaRPr lang="zh-TW" altLang="en-US" sz="900" dirty="0"/>
          </a:p>
        </p:txBody>
      </p:sp>
      <p:sp>
        <p:nvSpPr>
          <p:cNvPr id="21" name="P5_a"/>
          <p:cNvSpPr txBox="1"/>
          <p:nvPr/>
        </p:nvSpPr>
        <p:spPr>
          <a:xfrm>
            <a:off x="548640" y="2496312"/>
            <a:ext cx="6459322" cy="3040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我們想做一個能自動分類的垃圾桶。只靠單一感測器有它的限制，所以同時收集垃圾的影像和碰撞時的聲音，用多模態深度學習提高分類準確率。</a:t>
            </a:r>
            <a:endParaRPr lang="zh-TW" altLang="en-US" sz="1050" dirty="0"/>
          </a:p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特徵擷取：</a:t>
            </a: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影像用電腦視覺模型抽取空間特徵；聲音則轉成梅爾倒頻係數（MFCC），用來分辨不同材質碰撞時的聲音差異。</a:t>
            </a:r>
            <a:endParaRPr lang="zh-TW" altLang="en-US" sz="1050" dirty="0"/>
          </a:p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交叉注意力（Cross-Attention）：</a:t>
            </a: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把影像和聲音兩種特徵融合在一起。模型會依情況調整兩邊的權重：影像模糊時多靠聲音，環境吵雜時多靠影像，分類結果因此比較穩定。</a:t>
            </a:r>
            <a:endParaRPr lang="zh-TW" altLang="en-US" sz="1050" dirty="0"/>
          </a:p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我負責的部分：</a:t>
            </a: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系統架構和各裝置之間的通訊。我把軟硬體串起來，將 PyTorch 訓練好的模型移植到邊緣裝置上執行，整個系統的運作流程也是圍繞這個模型搭起來的。</a:t>
            </a:r>
            <a:endParaRPr lang="zh-TW" altLang="en-US" sz="1050" dirty="0"/>
          </a:p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心得：</a:t>
            </a: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這是我第一次把深度學習放進實體的機電系統。通訊和架構上遇到很多沒碰過的問題，只能找國內外的論文來讀，一個一個解決。做完這個專題，我比較知道碰到陌生的主題時該怎麼下手：先找資料、讀懂，再拿來用。</a:t>
            </a:r>
            <a:endParaRPr lang="zh-TW" altLang="en-US" sz="1050" dirty="0"/>
          </a:p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我同時也是組長。時間有限、卡關的地方又多，怎麼跟組員溝通、依每個人擅長的部分分工、追進度，都花了我不少心思。</a:t>
            </a:r>
            <a:endParaRPr lang="zh-TW" altLang="en-US" sz="1050" dirty="0"/>
          </a:p>
        </p:txBody>
      </p:sp>
      <p:pic>
        <p:nvPicPr>
          <p:cNvPr id="22" name="Image 0" descr="bin"/>
          <p:cNvPicPr>
            <a:picLocks noChangeAspect="1"/>
          </p:cNvPicPr>
          <p:nvPr/>
        </p:nvPicPr>
        <p:blipFill>
          <a:blip r:embed="rId3"/>
          <a:srcRect t="7639" b="7489"/>
          <a:stretch>
            <a:fillRect/>
          </a:stretch>
        </p:blipFill>
        <p:spPr>
          <a:xfrm>
            <a:off x="548640" y="7517875"/>
            <a:ext cx="2419304" cy="2793854"/>
          </a:xfrm>
          <a:prstGeom prst="rect">
            <a:avLst/>
          </a:prstGeom>
        </p:spPr>
      </p:pic>
      <p:pic>
        <p:nvPicPr>
          <p:cNvPr id="23" name="Image 1" descr="sorter"/>
          <p:cNvPicPr>
            <a:picLocks noChangeAspect="1"/>
          </p:cNvPicPr>
          <p:nvPr/>
        </p:nvPicPr>
        <p:blipFill>
          <a:blip r:embed="rId4"/>
          <a:srcRect t="-1" b="15128"/>
          <a:stretch>
            <a:fillRect/>
          </a:stretch>
        </p:blipFill>
        <p:spPr>
          <a:xfrm>
            <a:off x="3842766" y="7517333"/>
            <a:ext cx="2476793" cy="279385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83297" y="10384882"/>
            <a:ext cx="2419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1" latinLnBrk="0" hangingPunct="1">
              <a:buNone/>
            </a:pPr>
            <a:r>
              <a:rPr lang="zh-TW" altLang="en-US" sz="9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垃圾桶本體</a:t>
            </a:r>
            <a:endParaRPr lang="zh-TW" alt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3900261" y="10373782"/>
            <a:ext cx="24767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1" latinLnBrk="0" hangingPunct="1">
              <a:buNone/>
            </a:pPr>
            <a:r>
              <a:rPr lang="zh-TW" altLang="en-US" sz="9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分類機構</a:t>
            </a:r>
            <a:endParaRPr lang="zh-TW" altLang="en-US" sz="950" dirty="0"/>
          </a:p>
        </p:txBody>
      </p:sp>
      <p:pic>
        <p:nvPicPr>
          <p:cNvPr id="26" name="image14.png">
            <a:extLst>
              <a:ext uri="{FF2B5EF4-FFF2-40B4-BE49-F238E27FC236}">
                <a16:creationId xmlns:a16="http://schemas.microsoft.com/office/drawing/2014/main" id="{6BD09F2F-EAB0-A942-7093-28A1763FCAEA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1975727" y="5353050"/>
            <a:ext cx="3605045" cy="1967538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9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姜兆源</a:t>
            </a:r>
            <a:r>
              <a:rPr lang="zh-TW" altLang="en-US" sz="9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  Tera  ·  Curriculum Vitae</a:t>
            </a:r>
            <a:endParaRPr lang="zh-TW" alt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264762" y="3474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eaLnBrk="1" latinLnBrk="0" hangingPunct="1">
              <a:buNone/>
            </a:pPr>
            <a:r>
              <a:rPr lang="zh-TW" altLang="en-US" sz="900" kern="0" spc="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INTERESTS &amp; SKILLS</a:t>
            </a:r>
            <a:endParaRPr lang="zh-TW" alt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6459322" cy="0"/>
          </a:xfrm>
          <a:prstGeom prst="line">
            <a:avLst/>
          </a:prstGeom>
          <a:noFill/>
          <a:ln w="9525">
            <a:solidFill>
              <a:srgbClr val="C9D1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6093562" y="10248595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eaLnBrk="1" latinLnBrk="0" hangingPunct="1">
              <a:buNone/>
            </a:pPr>
            <a:r>
              <a:rPr lang="zh-TW" altLang="en-US" sz="9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6 / 6</a:t>
            </a:r>
            <a:endParaRPr lang="zh-TW" alt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6459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000" b="1" kern="0" spc="2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INTERESTS &amp; SKILLS</a:t>
            </a:r>
            <a:endParaRPr lang="zh-TW" alt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33856"/>
            <a:ext cx="64593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20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設計與分享 3D 模型</a:t>
            </a:r>
            <a:endParaRPr lang="zh-TW" alt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9344"/>
            <a:ext cx="64593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buNone/>
            </a:pPr>
            <a:r>
              <a:rPr lang="zh-TW" altLang="en-US" sz="10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開源社群  ·  MakerWorld、Thingiverse</a:t>
            </a:r>
            <a:endParaRPr lang="zh-TW" alt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956816"/>
            <a:ext cx="612648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1956816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3D 建模</a:t>
            </a:r>
            <a:endParaRPr lang="zh-TW" alt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34440" y="1956816"/>
            <a:ext cx="432054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1234440" y="1956816"/>
            <a:ext cx="4320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DFM</a:t>
            </a:r>
            <a:endParaRPr lang="zh-TW" alt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39646" y="1956816"/>
            <a:ext cx="772668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1739646" y="1956816"/>
            <a:ext cx="7726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PLA / TPU</a:t>
            </a:r>
            <a:endParaRPr lang="zh-TW" alt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85466" y="1956816"/>
            <a:ext cx="905256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2585466" y="1956816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切片參數調校</a:t>
            </a:r>
            <a:endParaRPr lang="zh-TW" alt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63874" y="1956816"/>
            <a:ext cx="676656" cy="246888"/>
          </a:xfrm>
          <a:prstGeom prst="roundRect">
            <a:avLst>
              <a:gd name="adj" fmla="val 22222"/>
            </a:avLst>
          </a:prstGeom>
          <a:solidFill>
            <a:srgbClr val="E3EAF3"/>
          </a:solidFill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3563874" y="1956816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 latinLnBrk="0" hangingPunct="1">
              <a:buNone/>
            </a:pPr>
            <a:r>
              <a:rPr lang="zh-TW" altLang="en-US" sz="90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開源分享</a:t>
            </a:r>
            <a:endParaRPr lang="zh-TW" altLang="en-US" sz="900" dirty="0"/>
          </a:p>
        </p:txBody>
      </p:sp>
      <p:sp>
        <p:nvSpPr>
          <p:cNvPr id="19" name="P6_a"/>
          <p:cNvSpPr txBox="1"/>
          <p:nvPr/>
        </p:nvSpPr>
        <p:spPr>
          <a:xfrm>
            <a:off x="548640" y="2496312"/>
            <a:ext cx="6459322" cy="1452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課餘時間我喜歡把生活中想到的點子做出來，畫一些小機構和生活用品的 3D 模型，上傳到 MakerWorld、Thingiverse 等開源平台，跟其他 Maker 交流。</a:t>
            </a:r>
            <a:endParaRPr lang="zh-TW" altLang="en-US" sz="1100" dirty="0"/>
          </a:p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作品公開之後，常會收到各國使用者的列印成品照片和修改建議。從這些回饋中，我學到怎麼依不同的印表機、切片軟體和材料（PLA、TPU 等）調整設計，讓模型更好印（DFM）。</a:t>
            </a:r>
            <a:endParaRPr lang="zh-TW" altLang="en-US" sz="1100" dirty="0"/>
          </a:p>
          <a:p>
            <a:pPr marL="0" indent="0" eaLnBrk="1" latinLnBrk="0" hangingPunct="1">
              <a:lnSpc>
                <a:spcPct val="130000"/>
              </a:lnSpc>
              <a:spcAft>
                <a:spcPts val="500"/>
              </a:spcAft>
              <a:buNone/>
            </a:pPr>
            <a:r>
              <a:rPr lang="zh-TW" alt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看到平台積分（Credits）增加，或有人印了我的設計還留下好評，都滿有成就感的，這也讓我一直保持動手做東西的習慣。過程中也常用外語跟國外使用者討論技術。</a:t>
            </a:r>
            <a:endParaRPr lang="zh-TW" altLang="en-US" sz="1100" dirty="0"/>
          </a:p>
        </p:txBody>
      </p:sp>
      <p:pic>
        <p:nvPicPr>
          <p:cNvPr id="20" name="Image 0" descr="ma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69334"/>
            <a:ext cx="3062128" cy="2108651"/>
          </a:xfrm>
          <a:prstGeom prst="rect">
            <a:avLst/>
          </a:prstGeom>
        </p:spPr>
      </p:pic>
      <p:pic>
        <p:nvPicPr>
          <p:cNvPr id="21" name="Image 1" descr="thing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5088" y="4269334"/>
            <a:ext cx="3122873" cy="2108651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48640" y="6432849"/>
            <a:ext cx="3062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1" latinLnBrk="0" hangingPunct="1">
              <a:buNone/>
            </a:pPr>
            <a:r>
              <a:rPr lang="zh-TW" altLang="en-US" sz="9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MakerWorld</a:t>
            </a:r>
            <a:endParaRPr lang="zh-TW" alt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3885088" y="6432849"/>
            <a:ext cx="31228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1" latinLnBrk="0" hangingPunct="1">
              <a:buNone/>
            </a:pPr>
            <a:r>
              <a:rPr lang="zh-TW" altLang="en-US" sz="9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0"/>
                <a:cs typeface="Microsoft JhengHei" pitchFamily="34" charset="-120"/>
              </a:rPr>
              <a:t>Thingiverse</a:t>
            </a:r>
            <a:endParaRPr lang="zh-TW" alt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2247</Words>
  <Application>Microsoft Office PowerPoint</Application>
  <PresentationFormat>自訂</PresentationFormat>
  <Paragraphs>180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9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姜兆源 CV</dc:title>
  <dc:subject>PptxGenJS Presentation</dc:subject>
  <dc:creator>姜兆源</dc:creator>
  <cp:lastModifiedBy>Tera chiang</cp:lastModifiedBy>
  <cp:revision>4</cp:revision>
  <dcterms:created xsi:type="dcterms:W3CDTF">2026-09-26T15:50:53Z</dcterms:created>
  <dcterms:modified xsi:type="dcterms:W3CDTF">2026-09-26T16:43:58Z</dcterms:modified>
</cp:coreProperties>
</file>